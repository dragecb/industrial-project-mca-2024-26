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BD5E1"/>
                </a:solidFill>
                <a:latin typeface="Arial"/>
              </a:rPr>
              <a:t>Test Cases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Unit
(VStack)</c:v>
                  </c:pt>
                  <c:pt idx="1">
                    <c:v>Integration
(Cloud IDE)</c:v>
                  </c:pt>
                  <c:pt idx="2">
                    <c:v>System
(E2E)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0D2E6A">
              <a:alpha val="70000"/>
            </a:srgbClr>
          </a:solidFill>
          <a:ln w="12700">
            <a:solidFill>
              <a:srgbClr val="0D2E6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1A0A3C">
              <a:alpha val="70000"/>
            </a:srgbClr>
          </a:solidFill>
          <a:ln w="12700">
            <a:solidFill>
              <a:srgbClr val="1A0A3C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2011680" cy="292608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INDUSTRIAL PROJECT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IDE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Web Development Platform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VStack Integration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27432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71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College Bikaner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264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20240" y="3264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Bikaner Technical University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5570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3557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— Session 2024–26</a:t>
            </a:r>
            <a:endParaRPr lang="en-US" sz="9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200400"/>
            <a:ext cx="384048" cy="38404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257800" y="36118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6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3200400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007608" y="36118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6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3200400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57416" y="36118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</a:t>
            </a:r>
            <a:endParaRPr lang="en-US" sz="6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4" y="320040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07224" y="36118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6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320040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57032" y="36118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650" dirty="0"/>
          </a:p>
        </p:txBody>
      </p:sp>
      <p:sp>
        <p:nvSpPr>
          <p:cNvPr id="28" name="Shap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Application  |  Engineering College Bikaner  |  BTU, Rajasthan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4160520" cy="6400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73152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064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3807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this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819656"/>
            <a:ext cx="4160520" cy="6400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19656"/>
            <a:ext cx="73152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74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18653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IDE — System Overview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214884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 Stack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587752"/>
            <a:ext cx="4160520" cy="6400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587752"/>
            <a:ext cx="73152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426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26334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291693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isolated containers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3355848"/>
            <a:ext cx="4160520" cy="6400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55848"/>
            <a:ext cx="73152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107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34015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Reverse Proxy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368503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 mechanism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4123944"/>
            <a:ext cx="4160520" cy="6400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123944"/>
            <a:ext cx="73152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78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416966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Terminal &amp; Monaco Editor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44531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node-pty + xterm.js + Monaco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4880" y="1051560"/>
            <a:ext cx="4160520" cy="6400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1051560"/>
            <a:ext cx="73152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1064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10972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VStack — AI Website Generator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0" y="13807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+ Sandpack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1819656"/>
            <a:ext cx="4160520" cy="6400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1819656"/>
            <a:ext cx="73152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1874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03520" y="18653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Authentication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03520" y="214884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Drizzle + Better Auth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54880" y="2587752"/>
            <a:ext cx="4160520" cy="6400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2587752"/>
            <a:ext cx="73152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26426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03520" y="26334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System &amp; Payments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03520" y="291693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integration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54880" y="3355848"/>
            <a:ext cx="4160520" cy="6400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3355848"/>
            <a:ext cx="73152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34107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303520" y="34015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303520" y="368503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Integration, System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754880" y="4123944"/>
            <a:ext cx="4160520" cy="6400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54880" y="4123944"/>
            <a:ext cx="73152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4178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303520" y="416966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303520" y="44531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ahead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7782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tooling gaps we set out to fix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397764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64008" cy="16459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0700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20700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'Works on My Machine'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16459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inconsistency causes code to fail across developer machines. Every team member needs identical local setup — complex, error-prone, and time-consuming.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1097280"/>
            <a:ext cx="397764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97280"/>
            <a:ext cx="64008" cy="164592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0700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120700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→ Code Pipeline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00600" y="16459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website generators (Wix, Webflow) produce locked-in output. No tool combines AI code generation directly with a professional cloud editor.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65760" y="2926080"/>
            <a:ext cx="397764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926080"/>
            <a:ext cx="64008" cy="16459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3580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03580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Cloud IDEs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02920" y="34747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Codespaces, Replit, and Gitpod are commercial with restrictive free tiers. No open-source, self-hostable alternative existed for institutions.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663440" y="2926080"/>
            <a:ext cx="397764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2926080"/>
            <a:ext cx="64008" cy="1645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035808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03520" y="303580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Friction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800600" y="34747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spend hours installing Node.js, Docker, and dependencies just to run a project. The actual learning starts only after environment setup.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7782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IDE — System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TurboRepo monorepo · 3 packages · 1 cohesive IDE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2606040" cy="36118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606040" cy="438912"/>
          </a:xfrm>
          <a:prstGeom prst="rect">
            <a:avLst/>
          </a:prstGeom>
          <a:solidFill>
            <a:srgbClr val="3B82F6">
              <a:alpha val="85000"/>
            </a:srgbClr>
          </a:solidFill>
          <a:ln w="6350">
            <a:solidFill>
              <a:srgbClr val="3B82F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161288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" y="116128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packages/client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29768" y="137160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App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57200" y="170992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" y="1627632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UI (VS Code layout)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23113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" y="2148840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Explorer (React)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275234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" y="2670048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 Editor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327355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" y="319125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xterm.js Terminal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57200" y="37947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" y="3712464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API Routes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154680" y="1097280"/>
            <a:ext cx="2606040" cy="36118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154680" y="1097280"/>
            <a:ext cx="2606040" cy="438912"/>
          </a:xfrm>
          <a:prstGeom prst="rect">
            <a:avLst/>
          </a:prstGeom>
          <a:solidFill>
            <a:srgbClr val="14B8A6">
              <a:alpha val="85000"/>
            </a:srgbClr>
          </a:solidFill>
          <a:ln w="6350">
            <a:solidFill>
              <a:srgbClr val="14B8A6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161288"/>
            <a:ext cx="310896" cy="31089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630168" y="116128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packages/server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264408" y="137160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(in Docker)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3291840" y="170992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447288" y="1627632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Socket.IO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3291840" y="223113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447288" y="2148840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node-pty (bash shell)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3291840" y="275234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447288" y="2670048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REST API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3291840" y="3273552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447288" y="319125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chokidar file watcher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3291840" y="3794760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447288" y="3712464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container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5989320" y="1097280"/>
            <a:ext cx="2606040" cy="36118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5989320" y="1097280"/>
            <a:ext cx="2606040" cy="438912"/>
          </a:xfrm>
          <a:prstGeom prst="rect">
            <a:avLst/>
          </a:prstGeom>
          <a:solidFill>
            <a:srgbClr val="8B5CF6">
              <a:alpha val="85000"/>
            </a:srgbClr>
          </a:solidFill>
          <a:ln w="6350">
            <a:solidFill>
              <a:srgbClr val="8B5CF6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161288"/>
            <a:ext cx="310896" cy="31089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464808" y="116128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packages/traefik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6099048" y="137160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API + Proxy</a:t>
            </a:r>
            <a:endParaRPr lang="en-US" sz="750" dirty="0"/>
          </a:p>
        </p:txBody>
      </p:sp>
      <p:sp>
        <p:nvSpPr>
          <p:cNvPr id="41" name="Shape 36"/>
          <p:cNvSpPr/>
          <p:nvPr/>
        </p:nvSpPr>
        <p:spPr>
          <a:xfrm>
            <a:off x="6126480" y="170992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281928" y="1627632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v2.9 reverse proxy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6126480" y="223113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281928" y="2148840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Dockerode container CRUD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6126480" y="275234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281928" y="2670048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/start /stop /running</a:t>
            </a:r>
            <a:endParaRPr lang="en-US" sz="850" dirty="0"/>
          </a:p>
        </p:txBody>
      </p:sp>
      <p:sp>
        <p:nvSpPr>
          <p:cNvPr id="47" name="Shape 42"/>
          <p:cNvSpPr/>
          <p:nvPr/>
        </p:nvSpPr>
        <p:spPr>
          <a:xfrm>
            <a:off x="6126480" y="3273552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281928" y="319125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Label-based routing</a:t>
            </a:r>
            <a:endParaRPr lang="en-US" sz="850" dirty="0"/>
          </a:p>
        </p:txBody>
      </p:sp>
      <p:sp>
        <p:nvSpPr>
          <p:cNvPr id="49" name="Shape 44"/>
          <p:cNvSpPr/>
          <p:nvPr/>
        </p:nvSpPr>
        <p:spPr>
          <a:xfrm>
            <a:off x="6126480" y="379476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6281928" y="3712464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machine (port 8080)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2926080" y="2834640"/>
            <a:ext cx="32004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898648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</a:rPr>
              <a:t>↔</a:t>
            </a:r>
            <a:endParaRPr lang="en-US" sz="1400" dirty="0"/>
          </a:p>
        </p:txBody>
      </p:sp>
      <p:sp>
        <p:nvSpPr>
          <p:cNvPr id="53" name="Shape 48"/>
          <p:cNvSpPr/>
          <p:nvPr/>
        </p:nvSpPr>
        <p:spPr>
          <a:xfrm>
            <a:off x="5760720" y="2834640"/>
            <a:ext cx="32004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5733288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</a:rPr>
              <a:t>↔</a:t>
            </a:r>
            <a:endParaRPr lang="en-US" sz="1400" dirty="0"/>
          </a:p>
        </p:txBody>
      </p:sp>
      <p:sp>
        <p:nvSpPr>
          <p:cNvPr id="55" name="Shape 50"/>
          <p:cNvSpPr/>
          <p:nvPr/>
        </p:nvSpPr>
        <p:spPr>
          <a:xfrm>
            <a:off x="3200400" y="4617720"/>
            <a:ext cx="2743200" cy="256032"/>
          </a:xfrm>
          <a:prstGeom prst="rect">
            <a:avLst/>
          </a:prstGeom>
          <a:solidFill>
            <a:srgbClr val="1C2A3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3200400" y="4617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TurboRepo monorepo  ·  pnpm workspaces  ·  TypeScript strict</a:t>
            </a:r>
            <a:endParaRPr lang="en-US" sz="750" dirty="0"/>
          </a:p>
        </p:txBody>
      </p:sp>
      <p:sp>
        <p:nvSpPr>
          <p:cNvPr id="57" name="Text 52"/>
          <p:cNvSpPr/>
          <p:nvPr/>
        </p:nvSpPr>
        <p:spPr>
          <a:xfrm>
            <a:off x="87782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isolated environments — one container per developer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8503920" cy="374904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155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 MACHINE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1920240" cy="1417320"/>
          </a:xfrm>
          <a:prstGeom prst="rect">
            <a:avLst/>
          </a:prstGeom>
          <a:solidFill>
            <a:srgbClr val="0E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417320"/>
            <a:ext cx="1920240" cy="274320"/>
          </a:xfrm>
          <a:prstGeom prst="rect">
            <a:avLst/>
          </a:prstGeom>
          <a:solidFill>
            <a:srgbClr val="24A1C1">
              <a:alpha val="80000"/>
            </a:srgbClr>
          </a:solidFill>
          <a:ln w="6350">
            <a:solidFill>
              <a:srgbClr val="24A1C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4752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1463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v2.9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94360" y="17556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 HTTP entrypoint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label provider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route discovery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02920" y="2926080"/>
            <a:ext cx="1920240" cy="1508760"/>
          </a:xfrm>
          <a:prstGeom prst="rect">
            <a:avLst/>
          </a:prstGeom>
          <a:solidFill>
            <a:srgbClr val="0E1F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" y="2926080"/>
            <a:ext cx="1920240" cy="274320"/>
          </a:xfrm>
          <a:prstGeom prst="rect">
            <a:avLst/>
          </a:prstGeom>
          <a:solidFill>
            <a:srgbClr val="8B5CF6">
              <a:alpha val="80000"/>
            </a:srgbClr>
          </a:solidFill>
          <a:ln w="6350">
            <a:solidFill>
              <a:srgbClr val="8B5CF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953512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1248" y="2971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API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94360" y="326440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:8080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/start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/stop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/running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(Dockerode)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2743200" y="1417320"/>
            <a:ext cx="1783080" cy="3017520"/>
          </a:xfrm>
          <a:prstGeom prst="rect">
            <a:avLst/>
          </a:prstGeom>
          <a:solidFill>
            <a:srgbClr val="09152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743200" y="1417320"/>
            <a:ext cx="1783080" cy="256032"/>
          </a:xfrm>
          <a:prstGeom prst="rect">
            <a:avLst/>
          </a:prstGeom>
          <a:solidFill>
            <a:srgbClr val="3B82F6">
              <a:alpha val="8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816352" y="14356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user-alice</a:t>
            </a:r>
            <a:endParaRPr lang="en-US" sz="7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2" y="175564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136392" y="17922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cloud-ide:latest</a:t>
            </a:r>
            <a:endParaRPr lang="en-US" sz="700" dirty="0"/>
          </a:p>
        </p:txBody>
      </p:sp>
      <p:sp>
        <p:nvSpPr>
          <p:cNvPr id="23" name="Shape 18"/>
          <p:cNvSpPr/>
          <p:nvPr/>
        </p:nvSpPr>
        <p:spPr>
          <a:xfrm>
            <a:off x="2852928" y="2167128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980944" y="20848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node-pty (bash)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2852928" y="2569464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980944" y="2487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:9000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2852928" y="2971800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980944" y="28895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2852928" y="3374136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980944" y="32918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chokidar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2852928" y="3776472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980944" y="36941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 dir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2816352" y="4343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user-alice.localhost → :9000</a:t>
            </a:r>
            <a:endParaRPr lang="en-US" sz="600" dirty="0"/>
          </a:p>
        </p:txBody>
      </p:sp>
      <p:sp>
        <p:nvSpPr>
          <p:cNvPr id="34" name="Shape 29"/>
          <p:cNvSpPr/>
          <p:nvPr/>
        </p:nvSpPr>
        <p:spPr>
          <a:xfrm>
            <a:off x="4709160" y="1417320"/>
            <a:ext cx="1783080" cy="3017520"/>
          </a:xfrm>
          <a:prstGeom prst="rect">
            <a:avLst/>
          </a:prstGeom>
          <a:solidFill>
            <a:srgbClr val="09152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4709160" y="1417320"/>
            <a:ext cx="1783080" cy="256032"/>
          </a:xfrm>
          <a:prstGeom prst="rect">
            <a:avLst/>
          </a:prstGeom>
          <a:solidFill>
            <a:srgbClr val="10B981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782312" y="14356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user-bob</a:t>
            </a:r>
            <a:endParaRPr lang="en-US" sz="7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1755648"/>
            <a:ext cx="274320" cy="27432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102352" y="17922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cloud-ide:latest</a:t>
            </a:r>
            <a:endParaRPr lang="en-US" sz="700" dirty="0"/>
          </a:p>
        </p:txBody>
      </p:sp>
      <p:sp>
        <p:nvSpPr>
          <p:cNvPr id="39" name="Shape 33"/>
          <p:cNvSpPr/>
          <p:nvPr/>
        </p:nvSpPr>
        <p:spPr>
          <a:xfrm>
            <a:off x="4818888" y="2167128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946904" y="20848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node-pty (bash)</a:t>
            </a:r>
            <a:endParaRPr lang="en-US" sz="750" dirty="0"/>
          </a:p>
        </p:txBody>
      </p:sp>
      <p:sp>
        <p:nvSpPr>
          <p:cNvPr id="41" name="Shape 35"/>
          <p:cNvSpPr/>
          <p:nvPr/>
        </p:nvSpPr>
        <p:spPr>
          <a:xfrm>
            <a:off x="4818888" y="2569464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946904" y="2487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:9000</a:t>
            </a:r>
            <a:endParaRPr lang="en-US" sz="750" dirty="0"/>
          </a:p>
        </p:txBody>
      </p:sp>
      <p:sp>
        <p:nvSpPr>
          <p:cNvPr id="43" name="Shape 37"/>
          <p:cNvSpPr/>
          <p:nvPr/>
        </p:nvSpPr>
        <p:spPr>
          <a:xfrm>
            <a:off x="4818888" y="297180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4946904" y="28895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750" dirty="0"/>
          </a:p>
        </p:txBody>
      </p:sp>
      <p:sp>
        <p:nvSpPr>
          <p:cNvPr id="45" name="Shape 39"/>
          <p:cNvSpPr/>
          <p:nvPr/>
        </p:nvSpPr>
        <p:spPr>
          <a:xfrm>
            <a:off x="4818888" y="3374136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946904" y="32918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chokidar</a:t>
            </a:r>
            <a:endParaRPr lang="en-US" sz="750" dirty="0"/>
          </a:p>
        </p:txBody>
      </p:sp>
      <p:sp>
        <p:nvSpPr>
          <p:cNvPr id="47" name="Shape 41"/>
          <p:cNvSpPr/>
          <p:nvPr/>
        </p:nvSpPr>
        <p:spPr>
          <a:xfrm>
            <a:off x="4818888" y="3776472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4946904" y="36941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 dir</a:t>
            </a:r>
            <a:endParaRPr lang="en-US" sz="750" dirty="0"/>
          </a:p>
        </p:txBody>
      </p:sp>
      <p:sp>
        <p:nvSpPr>
          <p:cNvPr id="49" name="Text 43"/>
          <p:cNvSpPr/>
          <p:nvPr/>
        </p:nvSpPr>
        <p:spPr>
          <a:xfrm>
            <a:off x="4782312" y="4343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user-bob.localhost → :9000</a:t>
            </a:r>
            <a:endParaRPr lang="en-US" sz="600" dirty="0"/>
          </a:p>
        </p:txBody>
      </p:sp>
      <p:sp>
        <p:nvSpPr>
          <p:cNvPr id="50" name="Shape 44"/>
          <p:cNvSpPr/>
          <p:nvPr/>
        </p:nvSpPr>
        <p:spPr>
          <a:xfrm>
            <a:off x="6675120" y="1417320"/>
            <a:ext cx="1783080" cy="3017520"/>
          </a:xfrm>
          <a:prstGeom prst="rect">
            <a:avLst/>
          </a:prstGeom>
          <a:solidFill>
            <a:srgbClr val="09152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5"/>
          <p:cNvSpPr/>
          <p:nvPr/>
        </p:nvSpPr>
        <p:spPr>
          <a:xfrm>
            <a:off x="6675120" y="1417320"/>
            <a:ext cx="1783080" cy="256032"/>
          </a:xfrm>
          <a:prstGeom prst="rect">
            <a:avLst/>
          </a:prstGeom>
          <a:solidFill>
            <a:srgbClr val="F59E0B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6748272" y="14356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user-carol</a:t>
            </a:r>
            <a:endParaRPr lang="en-US" sz="700" dirty="0"/>
          </a:p>
        </p:txBody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1755648"/>
            <a:ext cx="274320" cy="274320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7068312" y="17922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cloud-ide:latest</a:t>
            </a:r>
            <a:endParaRPr lang="en-US" sz="700" dirty="0"/>
          </a:p>
        </p:txBody>
      </p:sp>
      <p:sp>
        <p:nvSpPr>
          <p:cNvPr id="55" name="Shape 48"/>
          <p:cNvSpPr/>
          <p:nvPr/>
        </p:nvSpPr>
        <p:spPr>
          <a:xfrm>
            <a:off x="6784848" y="21671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6912864" y="20848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node-pty (bash)</a:t>
            </a:r>
            <a:endParaRPr lang="en-US" sz="750" dirty="0"/>
          </a:p>
        </p:txBody>
      </p:sp>
      <p:sp>
        <p:nvSpPr>
          <p:cNvPr id="57" name="Shape 50"/>
          <p:cNvSpPr/>
          <p:nvPr/>
        </p:nvSpPr>
        <p:spPr>
          <a:xfrm>
            <a:off x="6784848" y="256946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6912864" y="2487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:9000</a:t>
            </a:r>
            <a:endParaRPr lang="en-US" sz="750" dirty="0"/>
          </a:p>
        </p:txBody>
      </p:sp>
      <p:sp>
        <p:nvSpPr>
          <p:cNvPr id="59" name="Shape 52"/>
          <p:cNvSpPr/>
          <p:nvPr/>
        </p:nvSpPr>
        <p:spPr>
          <a:xfrm>
            <a:off x="6784848" y="2971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6912864" y="28895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750" dirty="0"/>
          </a:p>
        </p:txBody>
      </p:sp>
      <p:sp>
        <p:nvSpPr>
          <p:cNvPr id="61" name="Shape 54"/>
          <p:cNvSpPr/>
          <p:nvPr/>
        </p:nvSpPr>
        <p:spPr>
          <a:xfrm>
            <a:off x="6784848" y="337413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6912864" y="32918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chokidar</a:t>
            </a:r>
            <a:endParaRPr lang="en-US" sz="750" dirty="0"/>
          </a:p>
        </p:txBody>
      </p:sp>
      <p:sp>
        <p:nvSpPr>
          <p:cNvPr id="63" name="Shape 56"/>
          <p:cNvSpPr/>
          <p:nvPr/>
        </p:nvSpPr>
        <p:spPr>
          <a:xfrm>
            <a:off x="6784848" y="377647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6912864" y="36941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 dir</a:t>
            </a:r>
            <a:endParaRPr lang="en-US" sz="750" dirty="0"/>
          </a:p>
        </p:txBody>
      </p:sp>
      <p:sp>
        <p:nvSpPr>
          <p:cNvPr id="65" name="Text 58"/>
          <p:cNvSpPr/>
          <p:nvPr/>
        </p:nvSpPr>
        <p:spPr>
          <a:xfrm>
            <a:off x="6748272" y="4343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user-carol.localhost → :9000</a:t>
            </a:r>
            <a:endParaRPr lang="en-US" sz="600" dirty="0"/>
          </a:p>
        </p:txBody>
      </p:sp>
      <p:sp>
        <p:nvSpPr>
          <p:cNvPr id="66" name="Text 59"/>
          <p:cNvSpPr/>
          <p:nvPr/>
        </p:nvSpPr>
        <p:spPr>
          <a:xfrm>
            <a:off x="7132320" y="1005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Browser</a:t>
            </a:r>
            <a:endParaRPr lang="en-US" sz="900" dirty="0"/>
          </a:p>
        </p:txBody>
      </p:sp>
      <p:sp>
        <p:nvSpPr>
          <p:cNvPr id="67" name="Shape 60"/>
          <p:cNvSpPr/>
          <p:nvPr/>
        </p:nvSpPr>
        <p:spPr>
          <a:xfrm>
            <a:off x="7406640" y="1261872"/>
            <a:ext cx="27432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8" name="Text 61"/>
          <p:cNvSpPr/>
          <p:nvPr/>
        </p:nvSpPr>
        <p:spPr>
          <a:xfrm>
            <a:off x="87782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Reverse Proxy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Label-based dynamic routing — zero config, auto-discovered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4023360" cy="3749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" y="154533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API creates a Docker container for the user with Traefik labels attached.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075688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206654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Traefik's Docker provider polls /var/run/docker.sock and reads the labels.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96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" y="258775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auto-creates a router rule: Host(`alice.localhost`) → service port 9000.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118104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240" y="310896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 a WebSocket request to alice.localhost:80.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639312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" y="363016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matches the Host header and forwards to Alice's container.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" y="415137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Container's Socket.IO server handles the connection — fully isolated.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80560" y="1051560"/>
            <a:ext cx="4343400" cy="3749040"/>
          </a:xfrm>
          <a:prstGeom prst="rect">
            <a:avLst/>
          </a:prstGeom>
          <a:solidFill>
            <a:srgbClr val="060D1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0" y="11155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Labels (auto-configure Traefik)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14173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Management API  —  POST /start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16413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docker.createContainer({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0" y="18653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Image: "cloud-ide:latest",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0" y="20894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 {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572000" y="23134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"traefik.enable": "true",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72000" y="25374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[`traefik.http.routers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72000" y="27614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.${userId}.rule`]: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72000" y="29855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`Host(\`${userId}.localhost\`)`,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0" y="32095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[`traefik.http.services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0" y="34335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.${userId}.loadbalancer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72000" y="36576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.server.port`]: "9000",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0" y="38816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572000" y="41056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72000" y="43296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container.start();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7782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Terminal &amp; Monaco Editor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node-pty + xterm.js + Socket.IO + Monaco — full browser IDE experience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4023360" cy="3749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023360" cy="347472"/>
          </a:xfrm>
          <a:prstGeom prst="rect">
            <a:avLst/>
          </a:prstGeom>
          <a:solidFill>
            <a:srgbClr val="11111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12014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12014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12014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0972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user@container:/user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user@container:~$ 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8912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  components/  package.json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8912" y="2322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user@container:~$ npm install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8912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added 847 packages in 12s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8912" y="3163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user@container:~$ node App.js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8912" y="3584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running on port 3000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8912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user@container:~$ █</a:t>
            </a:r>
            <a:endParaRPr lang="en-US" sz="8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389120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468172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xterm.js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11480" y="48463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terminal</a:t>
            </a:r>
            <a:endParaRPr lang="en-US" sz="6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38912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737360" y="468172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node-pty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691640" y="48463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Pseudo-terminal</a:t>
            </a:r>
            <a:endParaRPr lang="en-US" sz="6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38912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017520" y="468172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2971800" y="48463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I/O</a:t>
            </a:r>
            <a:endParaRPr lang="en-US" sz="650" dirty="0"/>
          </a:p>
        </p:txBody>
      </p:sp>
      <p:sp>
        <p:nvSpPr>
          <p:cNvPr id="28" name="Shape 23"/>
          <p:cNvSpPr/>
          <p:nvPr/>
        </p:nvSpPr>
        <p:spPr>
          <a:xfrm>
            <a:off x="4480560" y="1051560"/>
            <a:ext cx="4343400" cy="3749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480560" y="1051560"/>
            <a:ext cx="4343400" cy="347472"/>
          </a:xfrm>
          <a:prstGeom prst="rect">
            <a:avLst/>
          </a:prstGeom>
          <a:solidFill>
            <a:srgbClr val="1E1E1E"/>
          </a:solidFill>
          <a:ln w="6350">
            <a:solidFill>
              <a:srgbClr val="64748B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9728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846320" y="1115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  ×   components/Header.js</a:t>
            </a:r>
            <a:endParaRPr lang="en-US" sz="750" dirty="0"/>
          </a:p>
        </p:txBody>
      </p:sp>
      <p:sp>
        <p:nvSpPr>
          <p:cNvPr id="32" name="Text 26"/>
          <p:cNvSpPr/>
          <p:nvPr/>
        </p:nvSpPr>
        <p:spPr>
          <a:xfrm>
            <a:off x="4572000" y="1463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import React from 'react';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457200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import Header from './components/Header';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457200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import TodoList from './components/TodoList';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457200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4572000" y="2560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export default function App() {</a:t>
            </a:r>
            <a:endParaRPr lang="en-US" sz="750" dirty="0"/>
          </a:p>
        </p:txBody>
      </p:sp>
      <p:sp>
        <p:nvSpPr>
          <p:cNvPr id="37" name="Text 31"/>
          <p:cNvSpPr/>
          <p:nvPr/>
        </p:nvSpPr>
        <p:spPr>
          <a:xfrm>
            <a:off x="457200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  return (</a:t>
            </a:r>
            <a:endParaRPr lang="en-US" sz="750" dirty="0"/>
          </a:p>
        </p:txBody>
      </p:sp>
      <p:sp>
        <p:nvSpPr>
          <p:cNvPr id="38" name="Text 32"/>
          <p:cNvSpPr/>
          <p:nvPr/>
        </p:nvSpPr>
        <p:spPr>
          <a:xfrm>
            <a:off x="457200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    &lt;div className="min-h-screen"&gt;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457200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      &lt;Header /&gt;</a:t>
            </a:r>
            <a:endParaRPr lang="en-US" sz="750" dirty="0"/>
          </a:p>
        </p:txBody>
      </p:sp>
      <p:sp>
        <p:nvSpPr>
          <p:cNvPr id="40" name="Text 34"/>
          <p:cNvSpPr/>
          <p:nvPr/>
        </p:nvSpPr>
        <p:spPr>
          <a:xfrm>
            <a:off x="457200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      &lt;TodoList /&gt;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457200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  &lt;/div&gt;</a:t>
            </a:r>
            <a:endParaRPr lang="en-US" sz="750" dirty="0"/>
          </a:p>
        </p:txBody>
      </p:sp>
      <p:sp>
        <p:nvSpPr>
          <p:cNvPr id="42" name="Text 36"/>
          <p:cNvSpPr/>
          <p:nvPr/>
        </p:nvSpPr>
        <p:spPr>
          <a:xfrm>
            <a:off x="4572000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);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4572000" y="4480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}</a:t>
            </a:r>
            <a:endParaRPr lang="en-US" sz="750" dirty="0"/>
          </a:p>
        </p:txBody>
      </p:sp>
      <p:sp>
        <p:nvSpPr>
          <p:cNvPr id="44" name="Shape 38"/>
          <p:cNvSpPr/>
          <p:nvPr/>
        </p:nvSpPr>
        <p:spPr>
          <a:xfrm>
            <a:off x="4617720" y="4846320"/>
            <a:ext cx="82296" cy="82296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4617720" y="4847234"/>
            <a:ext cx="82296" cy="82296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4617720" y="4848149"/>
            <a:ext cx="82296" cy="82296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4617720" y="4849063"/>
            <a:ext cx="82296" cy="82296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4572000" y="47365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highlighting (100+ languages)  ·  IntelliSense &amp; auto-complete  ·  Ctrl+S saves to container file  ·  Multi-tab file management</a:t>
            </a:r>
            <a:endParaRPr lang="en-US" sz="750" dirty="0"/>
          </a:p>
        </p:txBody>
      </p:sp>
      <p:sp>
        <p:nvSpPr>
          <p:cNvPr id="49" name="Text 43"/>
          <p:cNvSpPr/>
          <p:nvPr/>
        </p:nvSpPr>
        <p:spPr>
          <a:xfrm>
            <a:off x="87782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VStack — AI-Powered Website Generator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natural language → live React website in seconds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192024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19202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192024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51560"/>
            <a:ext cx="19202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430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14600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time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17720" y="1051560"/>
            <a:ext cx="192024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051560"/>
            <a:ext cx="19202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1430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Sandpack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66560" y="1051560"/>
            <a:ext cx="192024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05156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1430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12280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payments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011680"/>
            <a:ext cx="8503920" cy="731520"/>
          </a:xfrm>
          <a:prstGeom prst="rect">
            <a:avLst/>
          </a:prstGeom>
          <a:solidFill>
            <a:srgbClr val="1C2A3E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2075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Pipeline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2331720"/>
            <a:ext cx="100584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331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554480" y="23317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37360" y="2331720"/>
            <a:ext cx="100584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2331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Token Check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743200" y="23317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26080" y="2331720"/>
            <a:ext cx="100584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2331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Chat Session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931920" y="23317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14800" y="2331720"/>
            <a:ext cx="100584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0" y="2331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Code Session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5120640" y="23317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03520" y="2331720"/>
            <a:ext cx="100584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0" y="2331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6309360" y="23317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2331720"/>
            <a:ext cx="100584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2331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Sandpack Preview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7498080" y="23317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680960" y="2331720"/>
            <a:ext cx="100584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2331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Persist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320040" y="2880360"/>
            <a:ext cx="3977640" cy="8961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962656"/>
            <a:ext cx="320040" cy="32004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822960" y="29626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AI Sessions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822960" y="32278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chatSession (conversational) and codeSession (JSON output) using Gemini 2.0 Flash. Ensures reliable, parseable code generation.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4617720" y="2880360"/>
            <a:ext cx="3977640" cy="8961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962656"/>
            <a:ext cx="320040" cy="32004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5120640" y="29626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Sandpack Preview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5120640" y="32278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CodeSandbox Sandpack renders generated React code directly in the browser — no build step, no deploy, instant preview.</a:t>
            </a:r>
            <a:endParaRPr lang="en-US" sz="750" dirty="0"/>
          </a:p>
        </p:txBody>
      </p:sp>
      <p:sp>
        <p:nvSpPr>
          <p:cNvPr id="52" name="Shape 48"/>
          <p:cNvSpPr/>
          <p:nvPr/>
        </p:nvSpPr>
        <p:spPr>
          <a:xfrm>
            <a:off x="320040" y="3904488"/>
            <a:ext cx="3977640" cy="8961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986784"/>
            <a:ext cx="320040" cy="320040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822960" y="398678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 + Supabase</a:t>
            </a:r>
            <a:endParaRPr lang="en-US" sz="1000" dirty="0"/>
          </a:p>
        </p:txBody>
      </p:sp>
      <p:sp>
        <p:nvSpPr>
          <p:cNvPr id="55" name="Text 50"/>
          <p:cNvSpPr/>
          <p:nvPr/>
        </p:nvSpPr>
        <p:spPr>
          <a:xfrm>
            <a:off x="822960" y="425196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PostgreSQL schema with JSONB columns for messages[] and files{}. Drizzle transactions for atomic token deduction.</a:t>
            </a:r>
            <a:endParaRPr lang="en-US" sz="750" dirty="0"/>
          </a:p>
        </p:txBody>
      </p:sp>
      <p:sp>
        <p:nvSpPr>
          <p:cNvPr id="56" name="Shape 51"/>
          <p:cNvSpPr/>
          <p:nvPr/>
        </p:nvSpPr>
        <p:spPr>
          <a:xfrm>
            <a:off x="4617720" y="3904488"/>
            <a:ext cx="3977640" cy="8961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3986784"/>
            <a:ext cx="320040" cy="320040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5120640" y="398678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Auth</a:t>
            </a:r>
            <a:endParaRPr lang="en-US" sz="1000" dirty="0"/>
          </a:p>
        </p:txBody>
      </p:sp>
      <p:sp>
        <p:nvSpPr>
          <p:cNvPr id="59" name="Text 53"/>
          <p:cNvSpPr/>
          <p:nvPr/>
        </p:nvSpPr>
        <p:spPr>
          <a:xfrm>
            <a:off x="5120640" y="425196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Google OAuth via Better Auth. Session token management with Drizzle adapter. All AI endpoints require authenticated session.</a:t>
            </a:r>
            <a:endParaRPr lang="en-US" sz="750" dirty="0"/>
          </a:p>
        </p:txBody>
      </p:sp>
      <p:sp>
        <p:nvSpPr>
          <p:cNvPr id="60" name="Text 54"/>
          <p:cNvSpPr/>
          <p:nvPr/>
        </p:nvSpPr>
        <p:spPr>
          <a:xfrm>
            <a:off x="87782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platforms — VStack &amp; Cloud IDE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850392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64008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16128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31136" y="1207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16128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22776" y="1207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16128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14416" y="1207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16128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06056" y="1207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 Editor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320040" y="1709928"/>
            <a:ext cx="850392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320040" y="1709928"/>
            <a:ext cx="64008" cy="56692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02920" y="18653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Generation</a:t>
            </a:r>
            <a:endParaRPr lang="en-US" sz="8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40" y="1819656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231136" y="1865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</a:t>
            </a:r>
            <a:endParaRPr lang="en-US" sz="8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1819656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922776" y="1865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Sandpack</a:t>
            </a:r>
            <a:endParaRPr lang="en-US" sz="8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1819656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614416" y="1865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Sessions</a:t>
            </a:r>
            <a:endParaRPr lang="en-US" sz="8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5160" y="1819656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306056" y="1865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Deploy/Export</a:t>
            </a:r>
            <a:endParaRPr lang="en-US" sz="850" dirty="0"/>
          </a:p>
        </p:txBody>
      </p:sp>
      <p:sp>
        <p:nvSpPr>
          <p:cNvPr id="28" name="Shape 18"/>
          <p:cNvSpPr/>
          <p:nvPr/>
        </p:nvSpPr>
        <p:spPr>
          <a:xfrm>
            <a:off x="320040" y="2368296"/>
            <a:ext cx="850392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320040" y="2368296"/>
            <a:ext cx="6400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502920" y="25237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0240" y="2478024"/>
            <a:ext cx="274320" cy="27432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2231136" y="25237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22</a:t>
            </a:r>
            <a:endParaRPr lang="en-US" sz="8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1880" y="2478024"/>
            <a:ext cx="274320" cy="27432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3922776" y="25237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85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3520" y="2478024"/>
            <a:ext cx="274320" cy="27432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5614416" y="25237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node-pty</a:t>
            </a:r>
            <a:endParaRPr lang="en-US" sz="85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95160" y="2478024"/>
            <a:ext cx="274320" cy="274320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7306056" y="25237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chokidar</a:t>
            </a:r>
            <a:endParaRPr lang="en-US" sz="850" dirty="0"/>
          </a:p>
        </p:txBody>
      </p:sp>
      <p:sp>
        <p:nvSpPr>
          <p:cNvPr id="39" name="Shape 25"/>
          <p:cNvSpPr/>
          <p:nvPr/>
        </p:nvSpPr>
        <p:spPr>
          <a:xfrm>
            <a:off x="320040" y="3026664"/>
            <a:ext cx="850392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26"/>
          <p:cNvSpPr/>
          <p:nvPr/>
        </p:nvSpPr>
        <p:spPr>
          <a:xfrm>
            <a:off x="320040" y="3026664"/>
            <a:ext cx="64008" cy="566928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1" name="Text 27"/>
          <p:cNvSpPr/>
          <p:nvPr/>
        </p:nvSpPr>
        <p:spPr>
          <a:xfrm>
            <a:off x="502920" y="3182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5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20240" y="3136392"/>
            <a:ext cx="274320" cy="274320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2231136" y="3182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24</a:t>
            </a:r>
            <a:endParaRPr lang="en-US" sz="850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11880" y="3136392"/>
            <a:ext cx="274320" cy="274320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3922776" y="3182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v2.9</a:t>
            </a:r>
            <a:endParaRPr lang="en-US" sz="850" dirty="0"/>
          </a:p>
        </p:txBody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3520" y="3136392"/>
            <a:ext cx="274320" cy="274320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5614416" y="3182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Dockerode</a:t>
            </a:r>
            <a:endParaRPr lang="en-US" sz="850" dirty="0"/>
          </a:p>
        </p:txBody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95160" y="3136392"/>
            <a:ext cx="274320" cy="274320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7306056" y="3182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 Linux</a:t>
            </a:r>
            <a:endParaRPr lang="en-US" sz="850" dirty="0"/>
          </a:p>
        </p:txBody>
      </p:sp>
      <p:sp>
        <p:nvSpPr>
          <p:cNvPr id="50" name="Shape 32"/>
          <p:cNvSpPr/>
          <p:nvPr/>
        </p:nvSpPr>
        <p:spPr>
          <a:xfrm>
            <a:off x="320040" y="3685032"/>
            <a:ext cx="850392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33"/>
          <p:cNvSpPr/>
          <p:nvPr/>
        </p:nvSpPr>
        <p:spPr>
          <a:xfrm>
            <a:off x="320040" y="3685032"/>
            <a:ext cx="64008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34"/>
          <p:cNvSpPr/>
          <p:nvPr/>
        </p:nvSpPr>
        <p:spPr>
          <a:xfrm>
            <a:off x="502920" y="3840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Auth</a:t>
            </a:r>
            <a:endParaRPr lang="en-US" sz="850" dirty="0"/>
          </a:p>
        </p:txBody>
      </p:sp>
      <p:pic>
        <p:nvPicPr>
          <p:cNvPr id="5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20240" y="3794760"/>
            <a:ext cx="274320" cy="274320"/>
          </a:xfrm>
          <a:prstGeom prst="rect">
            <a:avLst/>
          </a:prstGeom>
        </p:spPr>
      </p:pic>
      <p:sp>
        <p:nvSpPr>
          <p:cNvPr id="54" name="Text 35"/>
          <p:cNvSpPr/>
          <p:nvPr/>
        </p:nvSpPr>
        <p:spPr>
          <a:xfrm>
            <a:off x="2231136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pic>
        <p:nvPicPr>
          <p:cNvPr id="5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11880" y="3794760"/>
            <a:ext cx="274320" cy="274320"/>
          </a:xfrm>
          <a:prstGeom prst="rect">
            <a:avLst/>
          </a:prstGeom>
        </p:spPr>
      </p:pic>
      <p:sp>
        <p:nvSpPr>
          <p:cNvPr id="56" name="Text 36"/>
          <p:cNvSpPr/>
          <p:nvPr/>
        </p:nvSpPr>
        <p:spPr>
          <a:xfrm>
            <a:off x="3922776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</a:t>
            </a:r>
            <a:endParaRPr lang="en-US" sz="850" dirty="0"/>
          </a:p>
        </p:txBody>
      </p:sp>
      <p:pic>
        <p:nvPicPr>
          <p:cNvPr id="5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03520" y="3794760"/>
            <a:ext cx="274320" cy="274320"/>
          </a:xfrm>
          <a:prstGeom prst="rect">
            <a:avLst/>
          </a:prstGeom>
        </p:spPr>
      </p:pic>
      <p:sp>
        <p:nvSpPr>
          <p:cNvPr id="58" name="Text 37"/>
          <p:cNvSpPr/>
          <p:nvPr/>
        </p:nvSpPr>
        <p:spPr>
          <a:xfrm>
            <a:off x="5614416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Auth</a:t>
            </a:r>
            <a:endParaRPr lang="en-US" sz="850" dirty="0"/>
          </a:p>
        </p:txBody>
      </p:sp>
      <p:pic>
        <p:nvPicPr>
          <p:cNvPr id="5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95160" y="3794760"/>
            <a:ext cx="274320" cy="274320"/>
          </a:xfrm>
          <a:prstGeom prst="rect">
            <a:avLst/>
          </a:prstGeom>
        </p:spPr>
      </p:pic>
      <p:sp>
        <p:nvSpPr>
          <p:cNvPr id="60" name="Text 38"/>
          <p:cNvSpPr/>
          <p:nvPr/>
        </p:nvSpPr>
        <p:spPr>
          <a:xfrm>
            <a:off x="7306056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850" dirty="0"/>
          </a:p>
        </p:txBody>
      </p:sp>
      <p:sp>
        <p:nvSpPr>
          <p:cNvPr id="61" name="Shape 39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2" name="Shape 40"/>
          <p:cNvSpPr/>
          <p:nvPr/>
        </p:nvSpPr>
        <p:spPr>
          <a:xfrm>
            <a:off x="320040" y="4343400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41"/>
          <p:cNvSpPr/>
          <p:nvPr/>
        </p:nvSpPr>
        <p:spPr>
          <a:xfrm>
            <a:off x="502920" y="44988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UX</a:t>
            </a:r>
            <a:endParaRPr lang="en-US" sz="850" dirty="0"/>
          </a:p>
        </p:txBody>
      </p:sp>
      <p:pic>
        <p:nvPicPr>
          <p:cNvPr id="6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20240" y="4453128"/>
            <a:ext cx="274320" cy="274320"/>
          </a:xfrm>
          <a:prstGeom prst="rect">
            <a:avLst/>
          </a:prstGeom>
        </p:spPr>
      </p:pic>
      <p:sp>
        <p:nvSpPr>
          <p:cNvPr id="65" name="Text 42"/>
          <p:cNvSpPr/>
          <p:nvPr/>
        </p:nvSpPr>
        <p:spPr>
          <a:xfrm>
            <a:off x="2231136" y="4498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SDK</a:t>
            </a:r>
            <a:endParaRPr lang="en-US" sz="850" dirty="0"/>
          </a:p>
        </p:txBody>
      </p:sp>
      <p:pic>
        <p:nvPicPr>
          <p:cNvPr id="6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611880" y="4453128"/>
            <a:ext cx="274320" cy="274320"/>
          </a:xfrm>
          <a:prstGeom prst="rect">
            <a:avLst/>
          </a:prstGeom>
        </p:spPr>
      </p:pic>
      <p:sp>
        <p:nvSpPr>
          <p:cNvPr id="67" name="Text 43"/>
          <p:cNvSpPr/>
          <p:nvPr/>
        </p:nvSpPr>
        <p:spPr>
          <a:xfrm>
            <a:off x="3922776" y="4498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850" dirty="0"/>
          </a:p>
        </p:txBody>
      </p:sp>
      <p:pic>
        <p:nvPicPr>
          <p:cNvPr id="6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03520" y="4453128"/>
            <a:ext cx="274320" cy="274320"/>
          </a:xfrm>
          <a:prstGeom prst="rect">
            <a:avLst/>
          </a:prstGeom>
        </p:spPr>
      </p:pic>
      <p:sp>
        <p:nvSpPr>
          <p:cNvPr id="69" name="Text 44"/>
          <p:cNvSpPr/>
          <p:nvPr/>
        </p:nvSpPr>
        <p:spPr>
          <a:xfrm>
            <a:off x="5614416" y="4498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850" dirty="0"/>
          </a:p>
        </p:txBody>
      </p:sp>
      <p:pic>
        <p:nvPicPr>
          <p:cNvPr id="7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95160" y="4453128"/>
            <a:ext cx="274320" cy="274320"/>
          </a:xfrm>
          <a:prstGeom prst="rect">
            <a:avLst/>
          </a:prstGeom>
        </p:spPr>
      </p:pic>
      <p:sp>
        <p:nvSpPr>
          <p:cNvPr id="71" name="Text 45"/>
          <p:cNvSpPr/>
          <p:nvPr/>
        </p:nvSpPr>
        <p:spPr>
          <a:xfrm>
            <a:off x="7306056" y="4498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UI</a:t>
            </a:r>
            <a:endParaRPr lang="en-US" sz="850" dirty="0"/>
          </a:p>
        </p:txBody>
      </p:sp>
      <p:sp>
        <p:nvSpPr>
          <p:cNvPr id="72" name="Text 46"/>
          <p:cNvSpPr/>
          <p:nvPr/>
        </p:nvSpPr>
        <p:spPr>
          <a:xfrm>
            <a:off x="87782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Authentication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 · Supabase PostgreSQL · Better Auth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4023360" cy="3749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15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(VStack)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914400" cy="256032"/>
          </a:xfrm>
          <a:prstGeom prst="rect">
            <a:avLst/>
          </a:prstGeom>
          <a:solidFill>
            <a:srgbClr val="3B82F6">
              <a:alpha val="8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417320" y="14630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PK · TEXT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417320" y="1645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· UNIQUE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tokens · INTEGER(20)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17320" y="20116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image, name, role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914400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40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417320" y="22402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PK · TEXT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17320" y="24231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chatid · UNIQUE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26060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userid → user.id FK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417320" y="2788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 · JSONB[]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17320" y="29718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files · JSONB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914400" cy="256032"/>
          </a:xfrm>
          <a:prstGeom prst="rect">
            <a:avLst/>
          </a:prstGeom>
          <a:solidFill>
            <a:srgbClr val="F59E0B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417320" y="30175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PK · TEXT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17320" y="32004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userid → user.id FK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417320" y="33832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orderid, paymentid, payerid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417320" y="35661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tokenupdated · INTEGER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914400" cy="256032"/>
          </a:xfrm>
          <a:prstGeom prst="rect">
            <a:avLst/>
          </a:prstGeom>
          <a:solidFill>
            <a:srgbClr val="C084FC">
              <a:alpha val="80000"/>
            </a:srgbClr>
          </a:solidFill>
          <a:ln w="6350">
            <a:solidFill>
              <a:srgbClr val="C084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94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/ account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417320" y="37947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Better Auth managed tables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417320" y="3977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Token, expiresAt, userId FK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417320" y="41605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OAuth: accountId, providerId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80560" y="1051560"/>
            <a:ext cx="4343400" cy="3749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17720" y="1115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1463040"/>
            <a:ext cx="4069080" cy="566928"/>
          </a:xfrm>
          <a:prstGeom prst="rect">
            <a:avLst/>
          </a:prstGeom>
          <a:solidFill>
            <a:srgbClr val="1C2A3E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63440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29200" y="15361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Sign In (GitHub / Google)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177393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provider flow initiated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17720" y="2130552"/>
            <a:ext cx="4069080" cy="566928"/>
          </a:xfrm>
          <a:prstGeom prst="rect">
            <a:avLst/>
          </a:prstGeom>
          <a:solidFill>
            <a:srgbClr val="1C2A3E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6344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🔑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29200" y="22037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Auth handles OAuth callback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0" y="2441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Exchanges code for access token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617720" y="2798064"/>
            <a:ext cx="4069080" cy="566928"/>
          </a:xfrm>
          <a:prstGeom prst="rect">
            <a:avLst/>
          </a:prstGeom>
          <a:solidFill>
            <a:srgbClr val="1C2A3E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63440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🗄️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029200" y="28712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stored in DB via Drizzle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29200" y="31089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session.token (32-char unique, 30-day expiry)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617720" y="3465576"/>
            <a:ext cx="4069080" cy="566928"/>
          </a:xfrm>
          <a:prstGeom prst="rect">
            <a:avLst/>
          </a:prstGeom>
          <a:solidFill>
            <a:srgbClr val="1C2A3E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663440" y="3575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029200" y="35387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routes call auth.api.getSession()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0" y="37764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400 if no valid session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617720" y="4133088"/>
            <a:ext cx="4069080" cy="566928"/>
          </a:xfrm>
          <a:prstGeom prst="rect">
            <a:avLst/>
          </a:prstGeom>
          <a:solidFill>
            <a:srgbClr val="1C2A3E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663440" y="42428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029200" y="42062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deduction in DB transaction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29200" y="44439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Atomic: update chat + tokens - 1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7782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System &amp; PayPal Payment Integration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monetisation · atomic DB transactions · PayPal REST SDK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8503920" cy="12344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Packages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828800" cy="713232"/>
          </a:xfrm>
          <a:prstGeom prst="rect">
            <a:avLst/>
          </a:prstGeom>
          <a:solidFill>
            <a:srgbClr val="1C2A3E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tokens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700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 ·  Starter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60320" y="1417320"/>
            <a:ext cx="1828800" cy="713232"/>
          </a:xfrm>
          <a:prstGeom prst="rect">
            <a:avLst/>
          </a:prstGeom>
          <a:solidFill>
            <a:srgbClr val="1C2A3E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tokens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1700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 ·  Small Projects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1828800" cy="713232"/>
          </a:xfrm>
          <a:prstGeom prst="rect">
            <a:avLst/>
          </a:prstGeom>
          <a:solidFill>
            <a:srgbClr val="1C2A3E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tokens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1700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  ·  Professional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66560" y="1417320"/>
            <a:ext cx="1828800" cy="713232"/>
          </a:xfrm>
          <a:prstGeom prst="rect">
            <a:avLst/>
          </a:prstGeom>
          <a:solidFill>
            <a:srgbClr val="1C2A3E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tokens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66560" y="1700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  ·  Best Value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423160"/>
            <a:ext cx="4846320" cy="228600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Payment Flow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81635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clicks PayPalButtons (SDK renders native UI)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11810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createOrder() creates order on PayPal servers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4198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User authenticates &amp; approves on PayPal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72160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onApprove() fires → calls updateTokens() server action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40233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DB transaction: INSERT Transaction + UPDATE user.tokens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43251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User sees updated balance immediately</a:t>
            </a:r>
            <a:endParaRPr lang="en-US" sz="8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4297680"/>
            <a:ext cx="457200" cy="45720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303520" y="2423160"/>
            <a:ext cx="3749040" cy="2286000"/>
          </a:xfrm>
          <a:prstGeom prst="rect">
            <a:avLst/>
          </a:prstGeom>
          <a:solidFill>
            <a:srgbClr val="060D1A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394960" y="248716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updateTokens() server action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394960" y="27432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db.transaction(async (tx) =&gt; {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394960" y="291693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Audit log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394960" y="309067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tx.insert(Transaction)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5394960" y="326440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.values({ orderid, paymentid,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5394960" y="343814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payerid, tokenupdated });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394960" y="361188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2. Credit tokens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5394960" y="378561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tx.update(userTable)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5394960" y="395935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.set({ tokens: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5394960" y="413308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sql`${userTable.tokens}+${tokens}`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5394960" y="430682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}).where(eq(id, user.id));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5394960" y="44805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87782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 &amp;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Integration · System testing across both platforms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150876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5361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(VStack)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29968" y="1051560"/>
            <a:ext cx="150876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29968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29968" y="15361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(Cloud IDE)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739896" y="1051560"/>
            <a:ext cx="150876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9896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39896" y="15361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Tests (E2E)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449824" y="1051560"/>
            <a:ext cx="150876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9824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49824" y="15361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cases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159752" y="1051560"/>
            <a:ext cx="150876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59752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59752" y="15361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7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20040" y="196596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4572000" y="1965960"/>
            <a:ext cx="4251960" cy="274320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663440" y="20299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Test Results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663440" y="2331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UT-V-01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623560" y="23317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GetAiMessage() — valid prompt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412480" y="237744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94192" y="23500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663440" y="2606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UT-V-04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5623560" y="2606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GetTokens() — unauthenticated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8412480" y="265176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94192" y="26243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663440" y="2880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IT-C-01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623560" y="2880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/start — container created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8412480" y="292608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94192" y="28986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663440" y="3154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IT-C-05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5623560" y="3154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routing to container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8412480" y="320040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394192" y="31729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4663440" y="3429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IT-C-06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5623560" y="34290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terminal command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8412480" y="347472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394192" y="34472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466344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IT-C-09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5623560" y="3703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chokidar → file-change event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8412480" y="374904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394192" y="37216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4663440" y="3977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ST-04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5623560" y="3977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Cloud IDE session (E2E)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8412480" y="402336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394192" y="39959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4663440" y="4251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ST-05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5623560" y="42519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container isolation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8412480" y="429768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394192" y="42702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87782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Proposed Enhancements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+ an exciting roadmap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4023360" cy="3749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023360" cy="329184"/>
          </a:xfrm>
          <a:prstGeom prst="rect">
            <a:avLst/>
          </a:prstGeom>
          <a:solidFill>
            <a:srgbClr val="450A0A">
              <a:alpha val="80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064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Limitations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151790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463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Storage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" y="16916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files lost on session stop (no Docker volumes)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38912" y="2039112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19842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(Cloud IDE)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" y="22128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user can start containers — security gap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38912" y="256032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25054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node-pty Instance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" y="2734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browser tabs share one terminal session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38912" y="3081528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30266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localhost-only Routing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3504" y="32552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DNS + TLS needed for production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38912" y="3602736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35478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Git Integration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3504" y="37764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commit/push from within the IDE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38912" y="412394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4069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Reliability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3504" y="42976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JSON.parse fails on malformed Gemini responses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80560" y="1051560"/>
            <a:ext cx="4343400" cy="3749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1051560"/>
            <a:ext cx="4343400" cy="329184"/>
          </a:xfrm>
          <a:prstGeom prst="rect">
            <a:avLst/>
          </a:prstGeom>
          <a:solidFill>
            <a:srgbClr val="052E16">
              <a:alpha val="80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11064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Proposed Enhancements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17720" y="1517904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463040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Docker Volumes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73168" y="1691640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files survive container restarts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17720" y="2039112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1984248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Auth Integration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73168" y="2212848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per-user containers (critical)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256032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2505456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VStack → Cloud IDE Pipeline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73168" y="2734056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generated code directly in IDE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617720" y="3081528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302666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Integration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73168" y="325526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Clone, commit, push from browser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617720" y="3602736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3547872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Resource Limits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73168" y="3776472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CPU/memory caps for fair multi-tenancy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617720" y="4123944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73168" y="4069080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 Abstraction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73168" y="4297680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OpenAI, Claude, Mistral alongside Gemini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7782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0D2E6A">
              <a:alpha val="60000"/>
            </a:srgbClr>
          </a:solidFill>
          <a:ln w="12700">
            <a:solidFill>
              <a:srgbClr val="0D2E6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371600"/>
            <a:ext cx="4572000" cy="4572000"/>
          </a:xfrm>
          <a:prstGeom prst="ellipse">
            <a:avLst/>
          </a:prstGeom>
          <a:solidFill>
            <a:srgbClr val="1A0A3C">
              <a:alpha val="60000"/>
            </a:srgbClr>
          </a:solidFill>
          <a:ln w="12700">
            <a:solidFill>
              <a:srgbClr val="1A0A3C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 and what it means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2860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88720"/>
            <a:ext cx="411480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64008" cy="1600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2588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3258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Working Platforms Delivered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4632" y="1737360"/>
            <a:ext cx="3840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VStack (AI website generator) and Cloud IDE (browser IDE) are fully functional, open-source, and self-hostable — built entirely from scratch in TypeScript.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27448" y="1188720"/>
            <a:ext cx="411480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27448" y="1188720"/>
            <a:ext cx="64008" cy="160020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21808" y="13258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Industry Problems Solved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92040" y="1737360"/>
            <a:ext cx="3840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 isolation eliminates the 'works on my machine' problem. Gemini AI reduces time-to-prototype from hours to under 10 seconds.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20040" y="2971800"/>
            <a:ext cx="411480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2971800"/>
            <a:ext cx="64008" cy="160020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10896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" y="3108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Technical Depth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84632" y="3520440"/>
            <a:ext cx="3840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spans full-stack Next.js, WebSocket real-time comms, Docker automation, reverse proxy, ORM, OAuth, and AI APIs — a complete modern stack.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727448" y="2971800"/>
            <a:ext cx="411480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27448" y="2971800"/>
            <a:ext cx="64008" cy="1600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08960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21808" y="3108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Architecture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892040" y="3520440"/>
            <a:ext cx="3840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platforms follow cloud-native principles: containerization, API-first design, atomic DB transactions, and event-driven communication.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College Bikaner  ·  Department of Computer Application  ·  BTU, Rajasthan  ·  MCA 2024–26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914400"/>
            <a:ext cx="5486400" cy="5486400"/>
          </a:xfrm>
          <a:prstGeom prst="ellipse">
            <a:avLst/>
          </a:prstGeom>
          <a:solidFill>
            <a:srgbClr val="0B1E40">
              <a:alpha val="70000"/>
            </a:srgbClr>
          </a:solidFill>
          <a:ln w="12700">
            <a:solidFill>
              <a:srgbClr val="0B1E40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377440"/>
            <a:ext cx="2743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060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3017520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6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88" y="260604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92224" y="3017520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6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56" y="260604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907792" y="3017520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</a:t>
            </a:r>
            <a:endParaRPr lang="en-US" sz="6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224" y="2606040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023360" y="3017520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6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792" y="2606040"/>
            <a:ext cx="384048" cy="3840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38928" y="3017520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6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606040"/>
            <a:ext cx="384048" cy="38404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254496" y="3017520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node-pty</a:t>
            </a:r>
            <a:endParaRPr lang="en-US" sz="6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28" y="2606040"/>
            <a:ext cx="384048" cy="38404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370064" y="3017520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</a:t>
            </a:r>
            <a:endParaRPr lang="en-US" sz="650" dirty="0"/>
          </a:p>
        </p:txBody>
      </p:sp>
      <p:sp>
        <p:nvSpPr>
          <p:cNvPr id="21" name="Shape 1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</p:sp>
      <p:sp>
        <p:nvSpPr>
          <p:cNvPr id="22" name="Text 1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College Bikaner  ·  MCA Industrial Project  ·  BTU, Rajasthan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IDE &amp; VStack — MCA Industrial Project</dc:title>
  <dc:subject>PptxGenJS Presentation</dc:subject>
  <dc:creator>Engineering College Bikaner</dc:creator>
  <cp:lastModifiedBy>Engineering College Bikaner</cp:lastModifiedBy>
  <cp:revision>1</cp:revision>
  <dcterms:created xsi:type="dcterms:W3CDTF">2026-05-16T01:06:36Z</dcterms:created>
  <dcterms:modified xsi:type="dcterms:W3CDTF">2026-05-16T01:06:36Z</dcterms:modified>
</cp:coreProperties>
</file>