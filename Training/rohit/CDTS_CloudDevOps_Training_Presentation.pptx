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A2D14">
              <a:alpha val="70000"/>
            </a:srgbClr>
          </a:solidFill>
          <a:ln w="12700">
            <a:solidFill>
              <a:srgbClr val="0A2D14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082010">
              <a:alpha val="60000"/>
            </a:srgbClr>
          </a:solidFill>
          <a:ln w="12700">
            <a:solidFill>
              <a:srgbClr val="08201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2286000" cy="274320"/>
          </a:xfrm>
          <a:prstGeom prst="rect">
            <a:avLst/>
          </a:prstGeom>
          <a:solidFill>
            <a:srgbClr val="0A2D14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INDUSTRIAL TRAINING REPORT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· Docker · Traefik · Cloud Infrastructure · CI/CD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256032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077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Organization: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1720" y="290779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Cloud &amp; DevOps Training Society (C.D.T.S.), Bikaner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31821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31720" y="318211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Cooperative Act No. 28, 1958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3456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31720" y="345643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College Bikaner · BTU, Rajasthan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37307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Programme: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331720" y="3730752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Computer Applications (MCA) · Session 2024-2026</a:t>
            </a:r>
            <a:endParaRPr lang="en-US" sz="8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218688"/>
            <a:ext cx="34747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66944" y="359359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65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3218688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016752" y="359359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65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3218688"/>
            <a:ext cx="347472" cy="34747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66560" y="359359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</a:t>
            </a:r>
            <a:endParaRPr lang="en-US" sz="6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2944" y="321868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16368" y="359359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6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3218688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266176" y="359359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650" dirty="0"/>
          </a:p>
        </p:txBody>
      </p:sp>
      <p:sp>
        <p:nvSpPr>
          <p:cNvPr id="29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Presentation Agenda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modules · 10 weeks · complete DevOps journey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4160520" cy="676656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87552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51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32688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C.D.T.S. Bikaner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13441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 &amp; training model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783080"/>
            <a:ext cx="4160520" cy="676656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783080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47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 &amp; DevOps Skills?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32688" y="21396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landscape &amp; skills gap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2578608"/>
            <a:ext cx="4160520" cy="676656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78608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2642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Curriculum &amp; Week Plan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2688" y="29352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10-week modular learning plan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374136"/>
            <a:ext cx="4160520" cy="676656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374136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381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" y="3438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&amp; Shell Scripting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2688" y="37307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system, commands, automation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4169664"/>
            <a:ext cx="4160520" cy="676656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169664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33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" y="4233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Containerization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32688" y="45262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Compose, networking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987552"/>
            <a:ext cx="4160520" cy="676656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987552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0515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Reverse Proxy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21808" y="13441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label-based routing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54880" y="1783080"/>
            <a:ext cx="4160520" cy="676656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783080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184708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21808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Concepts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21808" y="21396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IaaS, PaaS, SaaS, cloud providers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54880" y="2578608"/>
            <a:ext cx="4160520" cy="676656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54880" y="2578608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264261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21808" y="26426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DevOps Workflow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21808" y="29352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754880" y="3374136"/>
            <a:ext cx="4160520" cy="676656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374136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4381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321808" y="34381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 Industrial Project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21808" y="37307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IDE — Docker + Traefik applied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54880" y="4169664"/>
            <a:ext cx="4160520" cy="676656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754880" y="4169664"/>
            <a:ext cx="64008" cy="6766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423367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321808" y="4233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Proposed Enhancements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321808" y="45262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roadmap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C.D.T.S. Bikaner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Cloud &amp; DevOps Training Society — Registered under Rajasthan Cooperative Act No. 28, 1958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4023360" cy="384048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7899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078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1353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for Cloud &amp; DevOps Training Society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1664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691640" y="16642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Bikaner, Rajasthan, India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57200" y="20025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Registration: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691640" y="20025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Rajasthan Cooperative Act No. 28, 1958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57200" y="23408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691640" y="2340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| Hybrid Available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" y="26791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Batches: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691640" y="2679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Batches Monthly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57200" y="30175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691640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/ IT / Working Professionals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480560" y="987552"/>
            <a:ext cx="4343400" cy="3840480"/>
          </a:xfrm>
          <a:prstGeom prst="rect">
            <a:avLst/>
          </a:prstGeom>
          <a:solidFill>
            <a:srgbClr val="122A1C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617720" y="10789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Offered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617720" y="1463040"/>
            <a:ext cx="4069080" cy="457200"/>
          </a:xfrm>
          <a:prstGeom prst="rect">
            <a:avLst/>
          </a:prstGeom>
          <a:solidFill>
            <a:srgbClr val="091A10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17720" y="1463040"/>
            <a:ext cx="64008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14996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DevOps Fundamentals ★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754880" y="1709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Enrollment — Training attended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617720" y="2011680"/>
            <a:ext cx="4069080" cy="457200"/>
          </a:xfrm>
          <a:prstGeom prst="rect">
            <a:avLst/>
          </a:prstGeom>
          <a:solidFill>
            <a:srgbClr val="091A10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17720" y="2011680"/>
            <a:ext cx="64008" cy="4572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54880" y="20482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Administration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754880" y="22585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RHCSA / LPIC Track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617720" y="2560320"/>
            <a:ext cx="4069080" cy="457200"/>
          </a:xfrm>
          <a:prstGeom prst="rect">
            <a:avLst/>
          </a:prstGeom>
          <a:solidFill>
            <a:srgbClr val="091A10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617720" y="2560320"/>
            <a:ext cx="64008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54880" y="2596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754880" y="28072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Developers &amp; DevOps Engineers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4617720" y="3108960"/>
            <a:ext cx="4069080" cy="457200"/>
          </a:xfrm>
          <a:prstGeom prst="rect">
            <a:avLst/>
          </a:prstGeom>
          <a:solidFill>
            <a:srgbClr val="091A10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617720" y="3108960"/>
            <a:ext cx="64008" cy="4572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754880" y="314553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Engineering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754880" y="33558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Actions, Jenkins, GitLab CI</a:t>
            </a:r>
            <a:endParaRPr lang="en-US" sz="750" dirty="0"/>
          </a:p>
        </p:txBody>
      </p:sp>
      <p:sp>
        <p:nvSpPr>
          <p:cNvPr id="38" name="Shape 35"/>
          <p:cNvSpPr/>
          <p:nvPr/>
        </p:nvSpPr>
        <p:spPr>
          <a:xfrm>
            <a:off x="4617720" y="3657600"/>
            <a:ext cx="4069080" cy="457200"/>
          </a:xfrm>
          <a:prstGeom prst="rect">
            <a:avLst/>
          </a:prstGeom>
          <a:solidFill>
            <a:srgbClr val="091A10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617720" y="3657600"/>
            <a:ext cx="64008" cy="4572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754880" y="36941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 GCP Practitioner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754880" y="390448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Certification Prep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4617720" y="4206240"/>
            <a:ext cx="4069080" cy="457200"/>
          </a:xfrm>
          <a:prstGeom prst="rect">
            <a:avLst/>
          </a:prstGeom>
          <a:solidFill>
            <a:srgbClr val="091A10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617720" y="4206240"/>
            <a:ext cx="64008" cy="45720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754880" y="42428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with Terraform &amp; Ansible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4754880" y="44531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 &amp; DevOps Skills?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gap India's IT industry cannot afford to ignore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1920240" cy="91440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192024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cite DevOps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hardest skills to find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468880" y="987552"/>
            <a:ext cx="1920240" cy="91440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987552"/>
            <a:ext cx="19202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051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6888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 with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vs manual deploy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17720" y="987552"/>
            <a:ext cx="1920240" cy="91440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987552"/>
            <a:ext cx="19202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051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1772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migration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by 2025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766560" y="987552"/>
            <a:ext cx="1920240" cy="91440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987552"/>
            <a:ext cx="192024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05156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66560" y="148132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salary for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DevOps-certified engineers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20040" y="2029968"/>
            <a:ext cx="8503920" cy="272491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2103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vs Modern DevOps Approach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2423160"/>
            <a:ext cx="1371600" cy="256032"/>
          </a:xfrm>
          <a:prstGeom prst="rect">
            <a:avLst/>
          </a:prstGeom>
          <a:solidFill>
            <a:srgbClr val="0A2D14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423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920240" y="2423160"/>
            <a:ext cx="3383280" cy="256032"/>
          </a:xfrm>
          <a:prstGeom prst="rect">
            <a:avLst/>
          </a:prstGeom>
          <a:solidFill>
            <a:srgbClr val="0A2D14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 ❌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49240" y="2423160"/>
            <a:ext cx="3383280" cy="256032"/>
          </a:xfrm>
          <a:prstGeom prst="rect">
            <a:avLst/>
          </a:prstGeom>
          <a:solidFill>
            <a:srgbClr val="0A2D14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4231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DevOps Approach ✅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2715768"/>
            <a:ext cx="1371600" cy="274320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27523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920240" y="2715768"/>
            <a:ext cx="3383280" cy="274320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27523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FTP/SSH to server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49240" y="2715768"/>
            <a:ext cx="3383280" cy="274320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27523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CI/CD pipeline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3017520"/>
            <a:ext cx="1371600" cy="274320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30540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920240" y="3017520"/>
            <a:ext cx="3383280" cy="274320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65960" y="30540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server or VM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49240" y="3017520"/>
            <a:ext cx="3383280" cy="274320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0" y="305409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 on cloud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" y="3319272"/>
            <a:ext cx="1371600" cy="274320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3558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920240" y="3319272"/>
            <a:ext cx="3383280" cy="274320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65960" y="33558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server provisioning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349240" y="3319272"/>
            <a:ext cx="3383280" cy="274320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94960" y="335584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/ Kubernetes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3621024"/>
            <a:ext cx="1371600" cy="274320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6576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920240" y="3621024"/>
            <a:ext cx="3383280" cy="274320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65960" y="36576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file edits on server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349240" y="3621024"/>
            <a:ext cx="3383280" cy="274320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4960" y="365760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(IaC)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57200" y="3922776"/>
            <a:ext cx="1371600" cy="274320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9593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920240" y="3922776"/>
            <a:ext cx="3383280" cy="274320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965960" y="39593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Nginx config files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349240" y="3922776"/>
            <a:ext cx="3383280" cy="274320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394960" y="395935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Traefik with labels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457200" y="4224528"/>
            <a:ext cx="1371600" cy="274320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2920" y="426110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1920240" y="4224528"/>
            <a:ext cx="3383280" cy="274320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65960" y="42611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restore from backup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349240" y="4224528"/>
            <a:ext cx="3383280" cy="274320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394960" y="42611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Git-based, instant rollback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Curriculum &amp; 10-Week Learning Plan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modular program — from Linux basics to full CI/CD deployment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4160520" cy="86868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822960" cy="868680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893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16152" y="106070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System Administration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16152" y="1408176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4168" y="1371600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Admin-level terminal operations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0040" y="1993392"/>
            <a:ext cx="4160520" cy="86868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993392"/>
            <a:ext cx="822960" cy="868680"/>
          </a:xfrm>
          <a:prstGeom prst="rect">
            <a:avLst/>
          </a:prstGeom>
          <a:solidFill>
            <a:srgbClr val="84CC16">
              <a:alpha val="15000"/>
            </a:srgbClr>
          </a:solidFill>
          <a:ln w="6350">
            <a:solidFill>
              <a:srgbClr val="84CC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295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16152" y="206654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Scripting &amp; Automation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216152" y="2414016"/>
            <a:ext cx="91440" cy="91440"/>
          </a:xfrm>
          <a:prstGeom prst="ellipse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44168" y="2377440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Automation scripts &amp; cron jobs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20040" y="2999232"/>
            <a:ext cx="4160520" cy="86868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99232"/>
            <a:ext cx="822960" cy="868680"/>
          </a:xfrm>
          <a:prstGeom prst="rect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3009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4-5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16152" y="307238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Containerization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216152" y="341985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44168" y="3383280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Production-ready container images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" y="4005072"/>
            <a:ext cx="4160520" cy="86868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005072"/>
            <a:ext cx="822960" cy="868680"/>
          </a:xfrm>
          <a:prstGeom prst="rect">
            <a:avLst/>
          </a:prstGeom>
          <a:solidFill>
            <a:srgbClr val="F97316">
              <a:alpha val="15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3068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16152" y="407822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&amp; Networking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216152" y="442569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44168" y="4389120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Full stack app with Compose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09160" y="987552"/>
            <a:ext cx="4160520" cy="86868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987552"/>
            <a:ext cx="822960" cy="868680"/>
          </a:xfrm>
          <a:prstGeom prst="rect">
            <a:avLst/>
          </a:prstGeom>
          <a:solidFill>
            <a:srgbClr val="22C55E">
              <a:alpha val="1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12893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05272" y="106070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Reverse Proxy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605272" y="1408176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33288" y="1371600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Dynamic subdomain routing working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709160" y="1993392"/>
            <a:ext cx="4160520" cy="86868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1993392"/>
            <a:ext cx="822960" cy="868680"/>
          </a:xfrm>
          <a:prstGeom prst="rect">
            <a:avLst/>
          </a:prstGeom>
          <a:solidFill>
            <a:srgbClr val="EAB308">
              <a:alpha val="15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295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05272" y="206654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&amp; CI/CD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605272" y="2414016"/>
            <a:ext cx="91440" cy="914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33288" y="2377440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GitHub Actions pipeline deployed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709160" y="2999232"/>
            <a:ext cx="4160520" cy="86868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2999232"/>
            <a:ext cx="822960" cy="868680"/>
          </a:xfrm>
          <a:prstGeom prst="rect">
            <a:avLst/>
          </a:prstGeom>
          <a:solidFill>
            <a:srgbClr val="C084FC">
              <a:alpha val="15000"/>
            </a:srgbClr>
          </a:solidFill>
          <a:ln w="6350">
            <a:solidFill>
              <a:srgbClr val="C08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3009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9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605272" y="307238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Lab Project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05272" y="3419856"/>
            <a:ext cx="91440" cy="9144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33288" y="3383280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Multi-user isolated environments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09160" y="4005072"/>
            <a:ext cx="4160520" cy="86868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09160" y="4005072"/>
            <a:ext cx="822960" cy="868680"/>
          </a:xfrm>
          <a:prstGeom prst="rect">
            <a:avLst/>
          </a:prstGeom>
          <a:solidFill>
            <a:srgbClr val="F87171">
              <a:alpha val="15000"/>
            </a:srgbClr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43068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605272" y="4078224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Viva &amp; Documentation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605272" y="4425696"/>
            <a:ext cx="91440" cy="9144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33288" y="4389120"/>
            <a:ext cx="3035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Training completion &amp; report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&amp; Shell Scripting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 of all DevOps and cloud work — Ubuntu 22.04 LTS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4023360" cy="384048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0789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Commands Mastered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914400" cy="310896"/>
          </a:xfrm>
          <a:prstGeom prst="rect">
            <a:avLst/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5087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Ops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1444752" y="15544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  cd  cp  mv  rm  mkdir  find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57200" y="1965960"/>
            <a:ext cx="914400" cy="310896"/>
          </a:xfrm>
          <a:prstGeom prst="rect">
            <a:avLst/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9659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444752" y="20116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 grep  sed  awk  tail  head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457200" y="2423160"/>
            <a:ext cx="914400" cy="310896"/>
          </a:xfrm>
          <a:prstGeom prst="rect">
            <a:avLst/>
          </a:prstGeom>
          <a:solidFill>
            <a:srgbClr val="EAB308">
              <a:alpha val="20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4231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444752" y="24688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chmod  chown  sudo  umask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457200" y="2880360"/>
            <a:ext cx="914400" cy="310896"/>
          </a:xfrm>
          <a:prstGeom prst="rect">
            <a:avLst/>
          </a:prstGeom>
          <a:solidFill>
            <a:srgbClr val="F97316">
              <a:alpha val="2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8803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1444752" y="29260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useradd  passwd  groups  id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57200" y="3337560"/>
            <a:ext cx="914400" cy="310896"/>
          </a:xfrm>
          <a:prstGeom prst="rect">
            <a:avLst/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3375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444752" y="33832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  htop  kill  nice  nohup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57200" y="3794760"/>
            <a:ext cx="914400" cy="310896"/>
          </a:xfrm>
          <a:prstGeom prst="rect">
            <a:avLst/>
          </a:prstGeom>
          <a:solidFill>
            <a:srgbClr val="84CC16">
              <a:alpha val="20000"/>
            </a:srgbClr>
          </a:solidFill>
          <a:ln w="6350">
            <a:solidFill>
              <a:srgbClr val="84CC1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7947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444752" y="38404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  ss  curl  wget  ssh  netstat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57200" y="4251960"/>
            <a:ext cx="914400" cy="310896"/>
          </a:xfrm>
          <a:prstGeom prst="rect">
            <a:avLst/>
          </a:prstGeom>
          <a:solidFill>
            <a:srgbClr val="C084FC">
              <a:alpha val="20000"/>
            </a:srgbClr>
          </a:solidFill>
          <a:ln w="6350">
            <a:solidFill>
              <a:srgbClr val="C084F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25196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444752" y="42976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systemctl  journalctl  crontab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4480560" y="987552"/>
            <a:ext cx="4343400" cy="1737360"/>
          </a:xfrm>
          <a:prstGeom prst="rect">
            <a:avLst/>
          </a:prstGeom>
          <a:solidFill>
            <a:srgbClr val="060F09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480560" y="987552"/>
            <a:ext cx="4343400" cy="274320"/>
          </a:xfrm>
          <a:prstGeom prst="rect">
            <a:avLst/>
          </a:prstGeom>
          <a:solidFill>
            <a:srgbClr val="111111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17720" y="1033272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791456" y="1033272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965192" y="1033272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29200" y="10241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— ubuntu@devops-lab:~$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572000" y="132588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-la /etc/docker/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572000" y="15453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drwx--x--x 2 root root docker.json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572000" y="1764792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ps --format 'table {{.Names}}'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4572000" y="19842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nginx-proxy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app-container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572000" y="220370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systemctl status docker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4572000" y="242316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docker.service — Active (running)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4480560" y="2834640"/>
            <a:ext cx="4343400" cy="1993392"/>
          </a:xfrm>
          <a:prstGeom prst="rect">
            <a:avLst/>
          </a:prstGeom>
          <a:solidFill>
            <a:srgbClr val="060F09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4572000" y="2898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Script: Deployment Automation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4572000" y="317296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4572000" y="338328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          # exit on any error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4572000" y="359359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APP='myapp'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4572000" y="3803904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IMAGE='myapp:latest'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4572000" y="401421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4572000" y="422452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$IMAGE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572000" y="4434840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$APP || true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4572000" y="4645152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--name $APP \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4572000" y="4855464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3000:3000 $IMAGE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4572000" y="5065776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--retry 5 http://localhost:3000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4572000" y="5276088"/>
            <a:ext cx="4114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'[INFO] Deployment complete ✓'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Containerization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'works on my machine' forever — portable, isolated, reproducible environments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2606040" cy="91440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2606040" cy="4572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12471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2104" y="1115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9768" y="1517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runtime managing all containers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154680" y="987552"/>
            <a:ext cx="2606040" cy="91440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987552"/>
            <a:ext cx="26060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12471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66744" y="1115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264408" y="1517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template (like a class in OOP)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5989320" y="987552"/>
            <a:ext cx="2606040" cy="91440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89320" y="987552"/>
            <a:ext cx="26060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48" y="112471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01384" y="1115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099048" y="15179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instance of an image</a:t>
            </a:r>
            <a:endParaRPr lang="en-US" sz="750" dirty="0"/>
          </a:p>
        </p:txBody>
      </p:sp>
      <p:sp>
        <p:nvSpPr>
          <p:cNvPr id="21" name="Shape 16"/>
          <p:cNvSpPr/>
          <p:nvPr/>
        </p:nvSpPr>
        <p:spPr>
          <a:xfrm>
            <a:off x="320040" y="2066544"/>
            <a:ext cx="2606040" cy="91440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20040" y="2066544"/>
            <a:ext cx="260604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203704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32104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429768" y="2596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recipe — FROM, RUN, COPY, CMD</a:t>
            </a:r>
            <a:endParaRPr lang="en-US" sz="750" dirty="0"/>
          </a:p>
        </p:txBody>
      </p:sp>
      <p:sp>
        <p:nvSpPr>
          <p:cNvPr id="26" name="Shape 20"/>
          <p:cNvSpPr/>
          <p:nvPr/>
        </p:nvSpPr>
        <p:spPr>
          <a:xfrm>
            <a:off x="3154680" y="2066544"/>
            <a:ext cx="2606040" cy="91440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154680" y="2066544"/>
            <a:ext cx="260604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4408" y="2203704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66744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Volume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3264408" y="2596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for containers</a:t>
            </a:r>
            <a:endParaRPr lang="en-US" sz="750" dirty="0"/>
          </a:p>
        </p:txBody>
      </p:sp>
      <p:sp>
        <p:nvSpPr>
          <p:cNvPr id="31" name="Shape 24"/>
          <p:cNvSpPr/>
          <p:nvPr/>
        </p:nvSpPr>
        <p:spPr>
          <a:xfrm>
            <a:off x="5989320" y="2066544"/>
            <a:ext cx="2606040" cy="91440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5989320" y="2066544"/>
            <a:ext cx="26060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9048" y="2203704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501384" y="2194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6099048" y="2596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layer (bridge/overlay)</a:t>
            </a:r>
            <a:endParaRPr lang="en-US" sz="750" dirty="0"/>
          </a:p>
        </p:txBody>
      </p:sp>
      <p:sp>
        <p:nvSpPr>
          <p:cNvPr id="36" name="Shape 28"/>
          <p:cNvSpPr/>
          <p:nvPr/>
        </p:nvSpPr>
        <p:spPr>
          <a:xfrm>
            <a:off x="320040" y="3200400"/>
            <a:ext cx="8503920" cy="1627632"/>
          </a:xfrm>
          <a:prstGeom prst="rect">
            <a:avLst/>
          </a:prstGeom>
          <a:solidFill>
            <a:srgbClr val="122A1C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457200" y="3273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Best Practices Learned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457200" y="3611880"/>
            <a:ext cx="1298448" cy="502920"/>
          </a:xfrm>
          <a:prstGeom prst="rect">
            <a:avLst/>
          </a:prstGeom>
          <a:solidFill>
            <a:srgbClr val="22C55E">
              <a:alpha val="1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457200" y="363016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base images</a:t>
            </a:r>
            <a:endParaRPr lang="en-US" sz="750" dirty="0"/>
          </a:p>
        </p:txBody>
      </p:sp>
      <p:sp>
        <p:nvSpPr>
          <p:cNvPr id="40" name="Text 32"/>
          <p:cNvSpPr/>
          <p:nvPr/>
        </p:nvSpPr>
        <p:spPr>
          <a:xfrm>
            <a:off x="457200" y="38587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node:22-alpine</a:t>
            </a:r>
            <a:endParaRPr lang="en-US" sz="650" dirty="0"/>
          </a:p>
        </p:txBody>
      </p:sp>
      <p:sp>
        <p:nvSpPr>
          <p:cNvPr id="41" name="Shape 33"/>
          <p:cNvSpPr/>
          <p:nvPr/>
        </p:nvSpPr>
        <p:spPr>
          <a:xfrm>
            <a:off x="1874520" y="3611880"/>
            <a:ext cx="1298448" cy="502920"/>
          </a:xfrm>
          <a:prstGeom prst="rect">
            <a:avLst/>
          </a:prstGeom>
          <a:solidFill>
            <a:srgbClr val="14B8A6">
              <a:alpha val="15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1874520" y="363016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tags</a:t>
            </a:r>
            <a:endParaRPr lang="en-US" sz="750" dirty="0"/>
          </a:p>
        </p:txBody>
      </p:sp>
      <p:sp>
        <p:nvSpPr>
          <p:cNvPr id="43" name="Text 35"/>
          <p:cNvSpPr/>
          <p:nvPr/>
        </p:nvSpPr>
        <p:spPr>
          <a:xfrm>
            <a:off x="1874520" y="38587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:22-alpine not :latest</a:t>
            </a:r>
            <a:endParaRPr lang="en-US" sz="650" dirty="0"/>
          </a:p>
        </p:txBody>
      </p:sp>
      <p:sp>
        <p:nvSpPr>
          <p:cNvPr id="44" name="Shape 36"/>
          <p:cNvSpPr/>
          <p:nvPr/>
        </p:nvSpPr>
        <p:spPr>
          <a:xfrm>
            <a:off x="3291840" y="3611880"/>
            <a:ext cx="1298448" cy="502920"/>
          </a:xfrm>
          <a:prstGeom prst="rect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3291840" y="363016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layers</a:t>
            </a:r>
            <a:endParaRPr lang="en-US" sz="750" dirty="0"/>
          </a:p>
        </p:txBody>
      </p:sp>
      <p:sp>
        <p:nvSpPr>
          <p:cNvPr id="46" name="Text 38"/>
          <p:cNvSpPr/>
          <p:nvPr/>
        </p:nvSpPr>
        <p:spPr>
          <a:xfrm>
            <a:off x="3291840" y="38587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apt install a &amp;&amp; apt install b</a:t>
            </a:r>
            <a:endParaRPr lang="en-US" sz="650" dirty="0"/>
          </a:p>
        </p:txBody>
      </p:sp>
      <p:sp>
        <p:nvSpPr>
          <p:cNvPr id="47" name="Shape 39"/>
          <p:cNvSpPr/>
          <p:nvPr/>
        </p:nvSpPr>
        <p:spPr>
          <a:xfrm>
            <a:off x="4709160" y="3611880"/>
            <a:ext cx="1298448" cy="502920"/>
          </a:xfrm>
          <a:prstGeom prst="rect">
            <a:avLst/>
          </a:prstGeom>
          <a:solidFill>
            <a:srgbClr val="EAB308">
              <a:alpha val="15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4709160" y="363016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</a:t>
            </a:r>
            <a:endParaRPr lang="en-US" sz="750" dirty="0"/>
          </a:p>
        </p:txBody>
      </p:sp>
      <p:sp>
        <p:nvSpPr>
          <p:cNvPr id="49" name="Text 41"/>
          <p:cNvSpPr/>
          <p:nvPr/>
        </p:nvSpPr>
        <p:spPr>
          <a:xfrm>
            <a:off x="4709160" y="38587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appuser (security)</a:t>
            </a:r>
            <a:endParaRPr lang="en-US" sz="650" dirty="0"/>
          </a:p>
        </p:txBody>
      </p:sp>
      <p:sp>
        <p:nvSpPr>
          <p:cNvPr id="50" name="Shape 42"/>
          <p:cNvSpPr/>
          <p:nvPr/>
        </p:nvSpPr>
        <p:spPr>
          <a:xfrm>
            <a:off x="6126480" y="3611880"/>
            <a:ext cx="1298448" cy="502920"/>
          </a:xfrm>
          <a:prstGeom prst="rect">
            <a:avLst/>
          </a:prstGeom>
          <a:solidFill>
            <a:srgbClr val="F97316">
              <a:alpha val="15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6126480" y="363016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</a:t>
            </a:r>
            <a:endParaRPr lang="en-US" sz="750" dirty="0"/>
          </a:p>
        </p:txBody>
      </p:sp>
      <p:sp>
        <p:nvSpPr>
          <p:cNvPr id="52" name="Text 44"/>
          <p:cNvSpPr/>
          <p:nvPr/>
        </p:nvSpPr>
        <p:spPr>
          <a:xfrm>
            <a:off x="6126480" y="38587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Exclude node_modules, .git</a:t>
            </a:r>
            <a:endParaRPr lang="en-US" sz="650" dirty="0"/>
          </a:p>
        </p:txBody>
      </p:sp>
      <p:sp>
        <p:nvSpPr>
          <p:cNvPr id="53" name="Shape 45"/>
          <p:cNvSpPr/>
          <p:nvPr/>
        </p:nvSpPr>
        <p:spPr>
          <a:xfrm>
            <a:off x="7543800" y="3611880"/>
            <a:ext cx="1298448" cy="502920"/>
          </a:xfrm>
          <a:prstGeom prst="rect">
            <a:avLst/>
          </a:prstGeom>
          <a:solidFill>
            <a:srgbClr val="C084FC">
              <a:alpha val="15000"/>
            </a:srgbClr>
          </a:solidFill>
          <a:ln w="6350">
            <a:solidFill>
              <a:srgbClr val="C084FC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7543800" y="3630168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7543800" y="385876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builder AS build</a:t>
            </a:r>
            <a:endParaRPr lang="en-US" sz="650" dirty="0"/>
          </a:p>
        </p:txBody>
      </p:sp>
      <p:sp>
        <p:nvSpPr>
          <p:cNvPr id="56" name="Text 48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Reverse Proxy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service discovery via Docker labels — no config file editing, no restarts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1508760" cy="98755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15087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3533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traffic enters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--entrypoints.web.address=:80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029968" y="987552"/>
            <a:ext cx="1508760" cy="98755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29968" y="987552"/>
            <a:ext cx="150876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1051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29968" y="13533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config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--providers.docker=true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739896" y="987552"/>
            <a:ext cx="1508760" cy="98755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39896" y="987552"/>
            <a:ext cx="150876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9896" y="1051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39896" y="13533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requests by rule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Host(`app.localhost`)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449824" y="987552"/>
            <a:ext cx="1508760" cy="98755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49824" y="987552"/>
            <a:ext cx="150876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9824" y="1051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49824" y="13533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destination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Auto-created from container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159752" y="987552"/>
            <a:ext cx="1508760" cy="98755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159752" y="987552"/>
            <a:ext cx="1508760" cy="4572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9752" y="10515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59752" y="135331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requests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rate limit, redirect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0040" y="2103120"/>
            <a:ext cx="8503920" cy="1170432"/>
          </a:xfrm>
          <a:prstGeom prst="rect">
            <a:avLst/>
          </a:prstGeom>
          <a:solidFill>
            <a:srgbClr val="122A1C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2176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Flow: Browser → Traefik → User Container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2487168"/>
            <a:ext cx="1005840" cy="62179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248716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Browser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alice.localhost:80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664208" y="26334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871216" y="2487168"/>
            <a:ext cx="1005840" cy="62179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71216" y="248716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:80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EntryPoint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078224" y="26334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285232" y="2487168"/>
            <a:ext cx="1005840" cy="62179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85232" y="248716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Rule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match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492240" y="263347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99248" y="2487168"/>
            <a:ext cx="1005840" cy="62179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99248" y="2487168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Alice's Container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9000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0040" y="3383280"/>
            <a:ext cx="8503920" cy="1417320"/>
          </a:xfrm>
          <a:prstGeom prst="rect">
            <a:avLst/>
          </a:prstGeom>
          <a:solidFill>
            <a:srgbClr val="040C07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7200" y="34564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Labels — Auto-configure Traefik routing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" y="3721608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"traefik.enable": "true",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396849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[`traefik.http.routers.${userId}.rule`]: `Host(\`${userId}.localhost\`)`,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920" y="4215384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[`traefik.http.routers.${userId}.entrypoints`]: "web",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" y="4462272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[`traefik.http.services.${userId}.loadbalancer.server.port`]: "9000",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Concepts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 · CaaS · FaaS — understanding the cloud landscape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1508760" cy="25603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1508760" cy="347472"/>
          </a:xfrm>
          <a:prstGeom prst="rect">
            <a:avLst/>
          </a:prstGeom>
          <a:solidFill>
            <a:srgbClr val="3B82F6">
              <a:alpha val="8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" y="1399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a Service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93192" y="1755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manages: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393192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hardware &amp; network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93192" y="2267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93192" y="24505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OS, runtime, apps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93192" y="2788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AWS EC2, Azure VMs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029968" y="987552"/>
            <a:ext cx="1508760" cy="25603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29968" y="987552"/>
            <a:ext cx="1508760" cy="347472"/>
          </a:xfrm>
          <a:prstGeom prst="rect">
            <a:avLst/>
          </a:prstGeom>
          <a:solidFill>
            <a:srgbClr val="22C55E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1005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103120" y="1399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 a Service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103120" y="1755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manages: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103120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+ OS + runtime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103120" y="2267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103120" y="24505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code only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103120" y="2788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Heroku, App Engine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739896" y="987552"/>
            <a:ext cx="1508760" cy="25603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39896" y="987552"/>
            <a:ext cx="1508760" cy="347472"/>
          </a:xfrm>
          <a:prstGeom prst="rect">
            <a:avLst/>
          </a:prstGeom>
          <a:solidFill>
            <a:srgbClr val="14B8A6">
              <a:alpha val="8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1005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13048" y="1399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as a Service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13048" y="1755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manages: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813048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813048" y="2267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813048" y="24505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use the app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813048" y="2788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Gmail, Slack, Notion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5449824" y="987552"/>
            <a:ext cx="1508760" cy="25603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49824" y="987552"/>
            <a:ext cx="1508760" cy="347472"/>
          </a:xfrm>
          <a:prstGeom prst="rect">
            <a:avLst/>
          </a:prstGeom>
          <a:solidFill>
            <a:srgbClr val="F97316">
              <a:alpha val="8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49824" y="1005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CaaS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22976" y="1399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as a Service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522976" y="1755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manages: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5522976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+ container runtime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522976" y="2267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5522976" y="24505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522976" y="2788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AWS ECS, GKE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7159752" y="987552"/>
            <a:ext cx="1508760" cy="25603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159752" y="987552"/>
            <a:ext cx="1508760" cy="347472"/>
          </a:xfrm>
          <a:prstGeom prst="rect">
            <a:avLst/>
          </a:prstGeom>
          <a:solidFill>
            <a:srgbClr val="EAB308">
              <a:alpha val="80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59752" y="100584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FaaS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232904" y="1399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as a Service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232904" y="17556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manages: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7232904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except function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7232904" y="22677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manage: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7232904" y="24505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function code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232904" y="27889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AWS Lambda, Vercel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320040" y="3657600"/>
            <a:ext cx="8503920" cy="1170432"/>
          </a:xfrm>
          <a:prstGeom prst="rect">
            <a:avLst/>
          </a:prstGeom>
          <a:solidFill>
            <a:srgbClr val="122A1C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457200" y="37307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Cloud Concepts Covered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57200" y="409651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023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&amp; Availability Zones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578608" y="409651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15768" y="4023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— Virtual Private Cloud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700016" y="409651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37176" y="4023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&amp; ACLs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1424" y="409651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58584" y="40233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(S3)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57200" y="440740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4334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Balancers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578608" y="440740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15768" y="4334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Scaling Groups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700016" y="440740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837176" y="4334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Registries (ECR)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821424" y="440740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58584" y="43342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Kubernetes (EKS/GKE)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&amp; DevOps Workflow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&amp; Continuous Deployment — GitHub Actions hands-on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1097280" cy="18745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10972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7899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20040" y="17556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code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20040" y="2157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· GitHub</a:t>
            </a:r>
            <a:endParaRPr lang="en-US" sz="650" dirty="0"/>
          </a:p>
        </p:txBody>
      </p:sp>
      <p:sp>
        <p:nvSpPr>
          <p:cNvPr id="12" name="Text 9"/>
          <p:cNvSpPr/>
          <p:nvPr/>
        </p:nvSpPr>
        <p:spPr>
          <a:xfrm>
            <a:off x="1417320" y="17190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545336" y="987552"/>
            <a:ext cx="1097280" cy="18745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545336" y="987552"/>
            <a:ext cx="109728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096" y="107899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45336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545336" y="17556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1545336" y="2157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</a:t>
            </a:r>
            <a:endParaRPr lang="en-US" sz="650" dirty="0"/>
          </a:p>
        </p:txBody>
      </p:sp>
      <p:sp>
        <p:nvSpPr>
          <p:cNvPr id="19" name="Text 15"/>
          <p:cNvSpPr/>
          <p:nvPr/>
        </p:nvSpPr>
        <p:spPr>
          <a:xfrm>
            <a:off x="2642616" y="17190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2770632" y="987552"/>
            <a:ext cx="1097280" cy="18745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770632" y="987552"/>
            <a:ext cx="109728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392" y="1078992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2770632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770632" y="17556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2770632" y="2157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 · Vitest</a:t>
            </a:r>
            <a:endParaRPr lang="en-US" sz="650" dirty="0"/>
          </a:p>
        </p:txBody>
      </p:sp>
      <p:sp>
        <p:nvSpPr>
          <p:cNvPr id="26" name="Text 21"/>
          <p:cNvSpPr/>
          <p:nvPr/>
        </p:nvSpPr>
        <p:spPr>
          <a:xfrm>
            <a:off x="3867912" y="17190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3995928" y="987552"/>
            <a:ext cx="1097280" cy="18745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995928" y="987552"/>
            <a:ext cx="1097280" cy="4572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1078992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3995928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3995928" y="17556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image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3995928" y="2157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EAB30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Trivy · Snyk</a:t>
            </a:r>
            <a:endParaRPr lang="en-US" sz="650" dirty="0"/>
          </a:p>
        </p:txBody>
      </p:sp>
      <p:sp>
        <p:nvSpPr>
          <p:cNvPr id="33" name="Text 27"/>
          <p:cNvSpPr/>
          <p:nvPr/>
        </p:nvSpPr>
        <p:spPr>
          <a:xfrm>
            <a:off x="5093208" y="17190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221224" y="987552"/>
            <a:ext cx="1097280" cy="18745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5221224" y="987552"/>
            <a:ext cx="109728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6984" y="1078992"/>
            <a:ext cx="347472" cy="34747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221224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5221224" y="17556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pushed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registry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5221224" y="2157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Hub</a:t>
            </a:r>
            <a:endParaRPr lang="en-US" sz="650" dirty="0"/>
          </a:p>
        </p:txBody>
      </p:sp>
      <p:sp>
        <p:nvSpPr>
          <p:cNvPr id="40" name="Text 33"/>
          <p:cNvSpPr/>
          <p:nvPr/>
        </p:nvSpPr>
        <p:spPr>
          <a:xfrm>
            <a:off x="6318504" y="17190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446520" y="987552"/>
            <a:ext cx="1097280" cy="18745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6446520" y="987552"/>
            <a:ext cx="1097280" cy="4572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078992"/>
            <a:ext cx="347472" cy="34747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446520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6446520" y="17556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700" dirty="0"/>
          </a:p>
        </p:txBody>
      </p:sp>
      <p:sp>
        <p:nvSpPr>
          <p:cNvPr id="46" name="Text 38"/>
          <p:cNvSpPr/>
          <p:nvPr/>
        </p:nvSpPr>
        <p:spPr>
          <a:xfrm>
            <a:off x="6446520" y="2157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· Compose</a:t>
            </a:r>
            <a:endParaRPr lang="en-US" sz="650" dirty="0"/>
          </a:p>
        </p:txBody>
      </p:sp>
      <p:sp>
        <p:nvSpPr>
          <p:cNvPr id="47" name="Text 39"/>
          <p:cNvSpPr/>
          <p:nvPr/>
        </p:nvSpPr>
        <p:spPr>
          <a:xfrm>
            <a:off x="7543800" y="1719072"/>
            <a:ext cx="128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7671816" y="987552"/>
            <a:ext cx="1097280" cy="18745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7671816" y="987552"/>
            <a:ext cx="1097280" cy="4572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7576" y="1078992"/>
            <a:ext cx="347472" cy="34747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7671816" y="1463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00" dirty="0"/>
          </a:p>
        </p:txBody>
      </p:sp>
      <p:sp>
        <p:nvSpPr>
          <p:cNvPr id="52" name="Text 43"/>
          <p:cNvSpPr/>
          <p:nvPr/>
        </p:nvSpPr>
        <p:spPr>
          <a:xfrm>
            <a:off x="7671816" y="17556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700" dirty="0"/>
          </a:p>
        </p:txBody>
      </p:sp>
      <p:sp>
        <p:nvSpPr>
          <p:cNvPr id="53" name="Text 44"/>
          <p:cNvSpPr/>
          <p:nvPr/>
        </p:nvSpPr>
        <p:spPr>
          <a:xfrm>
            <a:off x="7671816" y="21579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Grafana</a:t>
            </a:r>
            <a:endParaRPr lang="en-US" sz="650" dirty="0"/>
          </a:p>
        </p:txBody>
      </p:sp>
      <p:sp>
        <p:nvSpPr>
          <p:cNvPr id="54" name="Shape 45"/>
          <p:cNvSpPr/>
          <p:nvPr/>
        </p:nvSpPr>
        <p:spPr>
          <a:xfrm>
            <a:off x="320040" y="2999232"/>
            <a:ext cx="5029200" cy="1810512"/>
          </a:xfrm>
          <a:prstGeom prst="rect">
            <a:avLst/>
          </a:prstGeom>
          <a:solidFill>
            <a:srgbClr val="040C07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5" name="Text 46"/>
          <p:cNvSpPr/>
          <p:nvPr/>
        </p:nvSpPr>
        <p:spPr>
          <a:xfrm>
            <a:off x="457200" y="30723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 (Learned Pattern)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457200" y="33375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750" dirty="0"/>
          </a:p>
        </p:txBody>
      </p:sp>
      <p:sp>
        <p:nvSpPr>
          <p:cNvPr id="57" name="Text 48"/>
          <p:cNvSpPr/>
          <p:nvPr/>
        </p:nvSpPr>
        <p:spPr>
          <a:xfrm>
            <a:off x="457200" y="35433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push:</a:t>
            </a:r>
            <a:endParaRPr lang="en-US" sz="750" dirty="0"/>
          </a:p>
        </p:txBody>
      </p:sp>
      <p:sp>
        <p:nvSpPr>
          <p:cNvPr id="58" name="Text 49"/>
          <p:cNvSpPr/>
          <p:nvPr/>
        </p:nvSpPr>
        <p:spPr>
          <a:xfrm>
            <a:off x="457200" y="37490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branches: [main]</a:t>
            </a:r>
            <a:endParaRPr lang="en-US" sz="750" dirty="0"/>
          </a:p>
        </p:txBody>
      </p:sp>
      <p:sp>
        <p:nvSpPr>
          <p:cNvPr id="59" name="Text 50"/>
          <p:cNvSpPr/>
          <p:nvPr/>
        </p:nvSpPr>
        <p:spPr>
          <a:xfrm>
            <a:off x="457200" y="39547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750" dirty="0"/>
          </a:p>
        </p:txBody>
      </p:sp>
      <p:sp>
        <p:nvSpPr>
          <p:cNvPr id="60" name="Text 51"/>
          <p:cNvSpPr/>
          <p:nvPr/>
        </p:nvSpPr>
        <p:spPr>
          <a:xfrm>
            <a:off x="457200" y="41605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deploy:</a:t>
            </a:r>
            <a:endParaRPr lang="en-US" sz="750" dirty="0"/>
          </a:p>
        </p:txBody>
      </p:sp>
      <p:sp>
        <p:nvSpPr>
          <p:cNvPr id="61" name="Text 52"/>
          <p:cNvSpPr/>
          <p:nvPr/>
        </p:nvSpPr>
        <p:spPr>
          <a:xfrm>
            <a:off x="457200" y="43662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runs-on: ubuntu-latest</a:t>
            </a:r>
            <a:endParaRPr lang="en-US" sz="750" dirty="0"/>
          </a:p>
        </p:txBody>
      </p:sp>
      <p:sp>
        <p:nvSpPr>
          <p:cNvPr id="62" name="Text 53"/>
          <p:cNvSpPr/>
          <p:nvPr/>
        </p:nvSpPr>
        <p:spPr>
          <a:xfrm>
            <a:off x="457200" y="457200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steps:</a:t>
            </a:r>
            <a:endParaRPr lang="en-US" sz="750" dirty="0"/>
          </a:p>
        </p:txBody>
      </p:sp>
      <p:sp>
        <p:nvSpPr>
          <p:cNvPr id="63" name="Text 54"/>
          <p:cNvSpPr/>
          <p:nvPr/>
        </p:nvSpPr>
        <p:spPr>
          <a:xfrm>
            <a:off x="457200" y="47777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actions/checkout@v3</a:t>
            </a:r>
            <a:endParaRPr lang="en-US" sz="750" dirty="0"/>
          </a:p>
        </p:txBody>
      </p:sp>
      <p:sp>
        <p:nvSpPr>
          <p:cNvPr id="64" name="Text 55"/>
          <p:cNvSpPr/>
          <p:nvPr/>
        </p:nvSpPr>
        <p:spPr>
          <a:xfrm>
            <a:off x="457200" y="49834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docker/login-action</a:t>
            </a:r>
            <a:endParaRPr lang="en-US" sz="750" dirty="0"/>
          </a:p>
        </p:txBody>
      </p:sp>
      <p:sp>
        <p:nvSpPr>
          <p:cNvPr id="65" name="Text 56"/>
          <p:cNvSpPr/>
          <p:nvPr/>
        </p:nvSpPr>
        <p:spPr>
          <a:xfrm>
            <a:off x="457200" y="518922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docker/build-push-action</a:t>
            </a:r>
            <a:endParaRPr lang="en-US" sz="750" dirty="0"/>
          </a:p>
        </p:txBody>
      </p:sp>
      <p:sp>
        <p:nvSpPr>
          <p:cNvPr id="66" name="Text 57"/>
          <p:cNvSpPr/>
          <p:nvPr/>
        </p:nvSpPr>
        <p:spPr>
          <a:xfrm>
            <a:off x="457200" y="53949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uses: appleboy/ssh-action</a:t>
            </a:r>
            <a:endParaRPr lang="en-US" sz="750" dirty="0"/>
          </a:p>
        </p:txBody>
      </p:sp>
      <p:sp>
        <p:nvSpPr>
          <p:cNvPr id="67" name="Shape 58"/>
          <p:cNvSpPr/>
          <p:nvPr/>
        </p:nvSpPr>
        <p:spPr>
          <a:xfrm>
            <a:off x="5486400" y="2999232"/>
            <a:ext cx="3337560" cy="1810512"/>
          </a:xfrm>
          <a:prstGeom prst="rect">
            <a:avLst/>
          </a:prstGeom>
          <a:solidFill>
            <a:srgbClr val="122A1C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8" name="Text 59"/>
          <p:cNvSpPr/>
          <p:nvPr/>
        </p:nvSpPr>
        <p:spPr>
          <a:xfrm>
            <a:off x="5623560" y="30723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Benefits</a:t>
            </a:r>
            <a:endParaRPr lang="en-US" sz="1000" dirty="0"/>
          </a:p>
        </p:txBody>
      </p:sp>
      <p:sp>
        <p:nvSpPr>
          <p:cNvPr id="69" name="Shape 60"/>
          <p:cNvSpPr/>
          <p:nvPr/>
        </p:nvSpPr>
        <p:spPr>
          <a:xfrm>
            <a:off x="5623560" y="3438144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Text 61"/>
          <p:cNvSpPr/>
          <p:nvPr/>
        </p:nvSpPr>
        <p:spPr>
          <a:xfrm>
            <a:off x="5760720" y="338328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testing on every push</a:t>
            </a:r>
            <a:endParaRPr lang="en-US" sz="800" dirty="0"/>
          </a:p>
        </p:txBody>
      </p:sp>
      <p:sp>
        <p:nvSpPr>
          <p:cNvPr id="71" name="Shape 62"/>
          <p:cNvSpPr/>
          <p:nvPr/>
        </p:nvSpPr>
        <p:spPr>
          <a:xfrm>
            <a:off x="5623560" y="3739896"/>
            <a:ext cx="91440" cy="914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2" name="Text 63"/>
          <p:cNvSpPr/>
          <p:nvPr/>
        </p:nvSpPr>
        <p:spPr>
          <a:xfrm>
            <a:off x="5760720" y="368503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built &amp; versioned</a:t>
            </a:r>
            <a:endParaRPr lang="en-US" sz="800" dirty="0"/>
          </a:p>
        </p:txBody>
      </p:sp>
      <p:sp>
        <p:nvSpPr>
          <p:cNvPr id="73" name="Shape 64"/>
          <p:cNvSpPr/>
          <p:nvPr/>
        </p:nvSpPr>
        <p:spPr>
          <a:xfrm>
            <a:off x="5623560" y="4041648"/>
            <a:ext cx="91440" cy="9144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4" name="Text 65"/>
          <p:cNvSpPr/>
          <p:nvPr/>
        </p:nvSpPr>
        <p:spPr>
          <a:xfrm>
            <a:off x="5760720" y="398678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deployment</a:t>
            </a:r>
            <a:endParaRPr lang="en-US" sz="800" dirty="0"/>
          </a:p>
        </p:txBody>
      </p:sp>
      <p:sp>
        <p:nvSpPr>
          <p:cNvPr id="75" name="Shape 66"/>
          <p:cNvSpPr/>
          <p:nvPr/>
        </p:nvSpPr>
        <p:spPr>
          <a:xfrm>
            <a:off x="5623560" y="4343400"/>
            <a:ext cx="91440" cy="914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76" name="Text 67"/>
          <p:cNvSpPr/>
          <p:nvPr/>
        </p:nvSpPr>
        <p:spPr>
          <a:xfrm>
            <a:off x="5760720" y="428853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Git-based instant rollback</a:t>
            </a:r>
            <a:endParaRPr lang="en-US" sz="800" dirty="0"/>
          </a:p>
        </p:txBody>
      </p:sp>
      <p:sp>
        <p:nvSpPr>
          <p:cNvPr id="77" name="Shape 68"/>
          <p:cNvSpPr/>
          <p:nvPr/>
        </p:nvSpPr>
        <p:spPr>
          <a:xfrm>
            <a:off x="5623560" y="464515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8" name="Text 69"/>
          <p:cNvSpPr/>
          <p:nvPr/>
        </p:nvSpPr>
        <p:spPr>
          <a:xfrm>
            <a:off x="5760720" y="459028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parity (dev=prod)</a:t>
            </a:r>
            <a:endParaRPr lang="en-US" sz="800" dirty="0"/>
          </a:p>
        </p:txBody>
      </p:sp>
      <p:sp>
        <p:nvSpPr>
          <p:cNvPr id="79" name="Text 70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80" name="Shape 7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81" name="Text 7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 Industrial Project — Cloud IDE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knowledge directly implemented in the Cloud IDE system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8503920" cy="274320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→ Industrial Project Mapping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286000" cy="256032"/>
          </a:xfrm>
          <a:prstGeom prst="rect">
            <a:avLst/>
          </a:prstGeom>
          <a:solidFill>
            <a:srgbClr val="0A2D14"/>
          </a:solidFill>
          <a:ln w="5080">
            <a:solidFill>
              <a:srgbClr val="145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Topic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788920" y="1371600"/>
            <a:ext cx="3474720" cy="256032"/>
          </a:xfrm>
          <a:prstGeom prst="rect">
            <a:avLst/>
          </a:prstGeom>
          <a:solidFill>
            <a:srgbClr val="0A2D14"/>
          </a:solidFill>
          <a:ln w="5080">
            <a:solidFill>
              <a:srgbClr val="1453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3716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In Cloud IDE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468880" cy="256032"/>
          </a:xfrm>
          <a:prstGeom prst="rect">
            <a:avLst/>
          </a:prstGeom>
          <a:solidFill>
            <a:srgbClr val="0A2D14"/>
          </a:solidFill>
          <a:ln w="5080">
            <a:solidFill>
              <a:srgbClr val="1453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3716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Component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1673352"/>
            <a:ext cx="2286000" cy="256032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1709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88920" y="1673352"/>
            <a:ext cx="3474720" cy="256032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43784" y="170992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gets isolated Docker container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309360" y="1673352"/>
            <a:ext cx="2468880" cy="256032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17099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packages/traefik/src/index.ts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1956816"/>
            <a:ext cx="2286000" cy="256032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199339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writing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788920" y="1956816"/>
            <a:ext cx="3474720" cy="256032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43784" y="19933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node:22-alpine + node-pty native build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309360" y="1956816"/>
            <a:ext cx="2468880" cy="256032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19933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packages/server/Dockerfile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2240280"/>
            <a:ext cx="2286000" cy="256032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" y="22768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788920" y="2240280"/>
            <a:ext cx="3474720" cy="256032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43784" y="227685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Multi-service: traefik + management API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309360" y="2240280"/>
            <a:ext cx="2468880" cy="256032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4224" y="22768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" y="2523744"/>
            <a:ext cx="2286000" cy="256032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064" y="2560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labels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2788920" y="2523744"/>
            <a:ext cx="3474720" cy="256032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43784" y="25603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userId.localhost → container port 9000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309360" y="2523744"/>
            <a:ext cx="2468880" cy="256032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2560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packages/traefik/src/index.ts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57200" y="2807208"/>
            <a:ext cx="2286000" cy="256032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" y="284378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Socket API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788920" y="2807208"/>
            <a:ext cx="3474720" cy="256032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43784" y="28437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Dockerode for container CRUD operations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309360" y="2807208"/>
            <a:ext cx="2468880" cy="256032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4224" y="28437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Management API (index.ts)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3090672"/>
            <a:ext cx="2286000" cy="256032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31272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commands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788920" y="3090672"/>
            <a:ext cx="3474720" cy="256032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843784" y="31272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environment via xterm.js + node-pty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309360" y="3090672"/>
            <a:ext cx="2468880" cy="256032"/>
          </a:xfrm>
          <a:prstGeom prst="rect">
            <a:avLst/>
          </a:prstGeom>
          <a:solidFill>
            <a:srgbClr val="0D2016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64224" y="31272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packages/server/src/server.ts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57200" y="3374136"/>
            <a:ext cx="2286000" cy="256032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2064" y="34107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networking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788920" y="3374136"/>
            <a:ext cx="3474720" cy="256032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43784" y="34107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network: Traefik ↔ user containers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309360" y="3374136"/>
            <a:ext cx="2468880" cy="256032"/>
          </a:xfrm>
          <a:prstGeom prst="rect">
            <a:avLst/>
          </a:prstGeom>
          <a:solidFill>
            <a:srgbClr val="091A10"/>
          </a:solidFill>
          <a:ln w="3810">
            <a:solidFill>
              <a:srgbClr val="14532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64224" y="34107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 network config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20040" y="3840480"/>
            <a:ext cx="8503920" cy="960120"/>
          </a:xfrm>
          <a:prstGeom prst="rect">
            <a:avLst/>
          </a:prstGeom>
          <a:solidFill>
            <a:srgbClr val="122A1C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57200" y="39044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Highlights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" y="4206240"/>
            <a:ext cx="1508760" cy="457200"/>
          </a:xfrm>
          <a:prstGeom prst="rect">
            <a:avLst/>
          </a:prstGeom>
          <a:solidFill>
            <a:srgbClr val="22C55E">
              <a:alpha val="15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2153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9-10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57200" y="44074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Setup + Dynamic Routing</a:t>
            </a:r>
            <a:endParaRPr lang="en-US" sz="650" dirty="0"/>
          </a:p>
        </p:txBody>
      </p:sp>
      <p:sp>
        <p:nvSpPr>
          <p:cNvPr id="61" name="Shape 59"/>
          <p:cNvSpPr/>
          <p:nvPr/>
        </p:nvSpPr>
        <p:spPr>
          <a:xfrm>
            <a:off x="2148840" y="4206240"/>
            <a:ext cx="1508760" cy="457200"/>
          </a:xfrm>
          <a:prstGeom prst="rect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148840" y="42153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8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148840" y="44074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Full Stack App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3840480" y="4206240"/>
            <a:ext cx="1508760" cy="457200"/>
          </a:xfrm>
          <a:prstGeom prst="rect">
            <a:avLst/>
          </a:prstGeom>
          <a:solidFill>
            <a:srgbClr val="F97316">
              <a:alpha val="15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40480" y="42153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5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840480" y="44074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Dockerfile Build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5532120" y="4206240"/>
            <a:ext cx="1508760" cy="457200"/>
          </a:xfrm>
          <a:prstGeom prst="rect">
            <a:avLst/>
          </a:prstGeom>
          <a:solidFill>
            <a:srgbClr val="EAB308">
              <a:alpha val="15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32120" y="42153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11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532120" y="44074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Pipeline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7223760" y="4206240"/>
            <a:ext cx="1508760" cy="457200"/>
          </a:xfrm>
          <a:prstGeom prst="rect">
            <a:avLst/>
          </a:prstGeom>
          <a:solidFill>
            <a:srgbClr val="C084FC">
              <a:alpha val="15000"/>
            </a:srgbClr>
          </a:solidFill>
          <a:ln w="6350">
            <a:solidFill>
              <a:srgbClr val="C084F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23760" y="42153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12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7223760" y="44074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Multi-user System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Platforms Used During Training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used in labs and hands-on exercises across 10 weeks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1920240" cy="11887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1920240" cy="45720"/>
          </a:xfrm>
          <a:prstGeom prst="rect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1097280"/>
            <a:ext cx="566928" cy="182880"/>
          </a:xfrm>
          <a:prstGeom prst="rect">
            <a:avLst/>
          </a:prstGeom>
          <a:solidFill>
            <a:srgbClr val="E95420">
              <a:alpha val="25000"/>
            </a:srgbClr>
          </a:solidFill>
          <a:ln w="3810">
            <a:solidFill>
              <a:srgbClr val="E954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10972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E95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endParaRPr lang="en-US" sz="5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0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" y="1463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22.04 LTS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148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OS for all lab exercises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2468880" y="987552"/>
            <a:ext cx="1920240" cy="11887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68880" y="987552"/>
            <a:ext cx="1920240" cy="4572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749040" y="1097280"/>
            <a:ext cx="566928" cy="182880"/>
          </a:xfrm>
          <a:prstGeom prst="rect">
            <a:avLst/>
          </a:prstGeom>
          <a:solidFill>
            <a:srgbClr val="2496ED">
              <a:alpha val="25000"/>
            </a:srgbClr>
          </a:solidFill>
          <a:ln w="3810">
            <a:solidFill>
              <a:srgbClr val="2496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749040" y="10972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5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097280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60320" y="1463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Engine 24.x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56032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lifecycle management</a:t>
            </a:r>
            <a:endParaRPr lang="en-US" sz="700" dirty="0"/>
          </a:p>
        </p:txBody>
      </p:sp>
      <p:sp>
        <p:nvSpPr>
          <p:cNvPr id="20" name="Shape 16"/>
          <p:cNvSpPr/>
          <p:nvPr/>
        </p:nvSpPr>
        <p:spPr>
          <a:xfrm>
            <a:off x="4617720" y="987552"/>
            <a:ext cx="1920240" cy="11887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17720" y="987552"/>
            <a:ext cx="1920240" cy="4572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897880" y="1097280"/>
            <a:ext cx="566928" cy="182880"/>
          </a:xfrm>
          <a:prstGeom prst="rect">
            <a:avLst/>
          </a:prstGeom>
          <a:solidFill>
            <a:srgbClr val="2496ED">
              <a:alpha val="25000"/>
            </a:srgbClr>
          </a:solidFill>
          <a:ln w="3810">
            <a:solidFill>
              <a:srgbClr val="2496E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97880" y="10972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5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097280"/>
            <a:ext cx="310896" cy="31089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09160" y="1463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v2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70916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orchestration</a:t>
            </a:r>
            <a:endParaRPr lang="en-US" sz="700" dirty="0"/>
          </a:p>
        </p:txBody>
      </p:sp>
      <p:sp>
        <p:nvSpPr>
          <p:cNvPr id="27" name="Shape 22"/>
          <p:cNvSpPr/>
          <p:nvPr/>
        </p:nvSpPr>
        <p:spPr>
          <a:xfrm>
            <a:off x="6766560" y="987552"/>
            <a:ext cx="1920240" cy="11887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766560" y="987552"/>
            <a:ext cx="1920240" cy="45720"/>
          </a:xfrm>
          <a:prstGeom prst="rect">
            <a:avLst/>
          </a:prstGeom>
          <a:solidFill>
            <a:srgbClr val="24A1C1"/>
          </a:solidFill>
          <a:ln w="12700">
            <a:solidFill>
              <a:srgbClr val="24A1C1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8046720" y="1097280"/>
            <a:ext cx="566928" cy="182880"/>
          </a:xfrm>
          <a:prstGeom prst="rect">
            <a:avLst/>
          </a:prstGeom>
          <a:solidFill>
            <a:srgbClr val="24A1C1">
              <a:alpha val="25000"/>
            </a:srgbClr>
          </a:solidFill>
          <a:ln w="3810">
            <a:solidFill>
              <a:srgbClr val="24A1C1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046720" y="1097280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4A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</a:t>
            </a:r>
            <a:endParaRPr lang="en-US" sz="5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97280"/>
            <a:ext cx="310896" cy="31089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58000" y="14630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v2.9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6858000" y="173736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&amp; dynamic routing</a:t>
            </a:r>
            <a:endParaRPr lang="en-US" sz="700" dirty="0"/>
          </a:p>
        </p:txBody>
      </p:sp>
      <p:sp>
        <p:nvSpPr>
          <p:cNvPr id="34" name="Shape 28"/>
          <p:cNvSpPr/>
          <p:nvPr/>
        </p:nvSpPr>
        <p:spPr>
          <a:xfrm>
            <a:off x="320040" y="2331720"/>
            <a:ext cx="1920240" cy="11887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320040" y="2331720"/>
            <a:ext cx="1920240" cy="45720"/>
          </a:xfrm>
          <a:prstGeom prst="rect">
            <a:avLst/>
          </a:prstGeom>
          <a:solidFill>
            <a:srgbClr val="F05032"/>
          </a:solidFill>
          <a:ln w="12700">
            <a:solidFill>
              <a:srgbClr val="F0503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1600200" y="2441448"/>
            <a:ext cx="566928" cy="182880"/>
          </a:xfrm>
          <a:prstGeom prst="rect">
            <a:avLst/>
          </a:prstGeom>
          <a:solidFill>
            <a:srgbClr val="F05032">
              <a:alpha val="25000"/>
            </a:srgbClr>
          </a:solidFill>
          <a:ln w="3810">
            <a:solidFill>
              <a:srgbClr val="F05032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1600200" y="24414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05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</a:t>
            </a:r>
            <a:endParaRPr lang="en-US" sz="55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441448"/>
            <a:ext cx="310896" cy="310896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411480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411480" y="30815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for lab projects</a:t>
            </a:r>
            <a:endParaRPr lang="en-US" sz="700" dirty="0"/>
          </a:p>
        </p:txBody>
      </p:sp>
      <p:sp>
        <p:nvSpPr>
          <p:cNvPr id="41" name="Shape 34"/>
          <p:cNvSpPr/>
          <p:nvPr/>
        </p:nvSpPr>
        <p:spPr>
          <a:xfrm>
            <a:off x="2468880" y="2331720"/>
            <a:ext cx="1920240" cy="11887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35"/>
          <p:cNvSpPr/>
          <p:nvPr/>
        </p:nvSpPr>
        <p:spPr>
          <a:xfrm>
            <a:off x="2468880" y="2331720"/>
            <a:ext cx="192024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3749040" y="2441448"/>
            <a:ext cx="566928" cy="182880"/>
          </a:xfrm>
          <a:prstGeom prst="rect">
            <a:avLst/>
          </a:prstGeom>
          <a:solidFill>
            <a:srgbClr val="FFFFFF">
              <a:alpha val="25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749040" y="24414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55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2441448"/>
            <a:ext cx="310896" cy="31089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560320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2560320" y="30815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 automation</a:t>
            </a:r>
            <a:endParaRPr lang="en-US" sz="700" dirty="0"/>
          </a:p>
        </p:txBody>
      </p:sp>
      <p:sp>
        <p:nvSpPr>
          <p:cNvPr id="48" name="Shape 40"/>
          <p:cNvSpPr/>
          <p:nvPr/>
        </p:nvSpPr>
        <p:spPr>
          <a:xfrm>
            <a:off x="4617720" y="2331720"/>
            <a:ext cx="1920240" cy="11887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4617720" y="2331720"/>
            <a:ext cx="1920240" cy="45720"/>
          </a:xfrm>
          <a:prstGeom prst="rect">
            <a:avLst/>
          </a:prstGeom>
          <a:solidFill>
            <a:srgbClr val="339933"/>
          </a:solidFill>
          <a:ln w="12700">
            <a:solidFill>
              <a:srgbClr val="339933"/>
            </a:solidFill>
            <a:prstDash val="solid"/>
          </a:ln>
        </p:spPr>
      </p:sp>
      <p:sp>
        <p:nvSpPr>
          <p:cNvPr id="50" name="Shape 42"/>
          <p:cNvSpPr/>
          <p:nvPr/>
        </p:nvSpPr>
        <p:spPr>
          <a:xfrm>
            <a:off x="5897880" y="2441448"/>
            <a:ext cx="566928" cy="182880"/>
          </a:xfrm>
          <a:prstGeom prst="rect">
            <a:avLst/>
          </a:prstGeom>
          <a:solidFill>
            <a:srgbClr val="339933">
              <a:alpha val="25000"/>
            </a:srgbClr>
          </a:solidFill>
          <a:ln w="3810">
            <a:solidFill>
              <a:srgbClr val="339933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5897880" y="24414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33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550" dirty="0"/>
          </a:p>
        </p:txBody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2441448"/>
            <a:ext cx="310896" cy="310896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4709160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v20 LTS</a:t>
            </a:r>
            <a:endParaRPr lang="en-US" sz="900" dirty="0"/>
          </a:p>
        </p:txBody>
      </p:sp>
      <p:sp>
        <p:nvSpPr>
          <p:cNvPr id="54" name="Text 45"/>
          <p:cNvSpPr/>
          <p:nvPr/>
        </p:nvSpPr>
        <p:spPr>
          <a:xfrm>
            <a:off x="4709160" y="30815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runtime in containers</a:t>
            </a:r>
            <a:endParaRPr lang="en-US" sz="700" dirty="0"/>
          </a:p>
        </p:txBody>
      </p:sp>
      <p:sp>
        <p:nvSpPr>
          <p:cNvPr id="55" name="Shape 46"/>
          <p:cNvSpPr/>
          <p:nvPr/>
        </p:nvSpPr>
        <p:spPr>
          <a:xfrm>
            <a:off x="6766560" y="2331720"/>
            <a:ext cx="1920240" cy="11887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6" name="Shape 47"/>
          <p:cNvSpPr/>
          <p:nvPr/>
        </p:nvSpPr>
        <p:spPr>
          <a:xfrm>
            <a:off x="6766560" y="2331720"/>
            <a:ext cx="19202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8046720" y="2441448"/>
            <a:ext cx="566928" cy="182880"/>
          </a:xfrm>
          <a:prstGeom prst="rect">
            <a:avLst/>
          </a:prstGeom>
          <a:solidFill>
            <a:srgbClr val="22C55E">
              <a:alpha val="25000"/>
            </a:srgbClr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8046720" y="2441448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</a:t>
            </a:r>
            <a:endParaRPr lang="en-US" sz="550" dirty="0"/>
          </a:p>
        </p:txBody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2441448"/>
            <a:ext cx="310896" cy="310896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6858000" y="280720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 Shell 5.x</a:t>
            </a:r>
            <a:endParaRPr lang="en-US" sz="900" dirty="0"/>
          </a:p>
        </p:txBody>
      </p:sp>
      <p:sp>
        <p:nvSpPr>
          <p:cNvPr id="61" name="Text 51"/>
          <p:cNvSpPr/>
          <p:nvPr/>
        </p:nvSpPr>
        <p:spPr>
          <a:xfrm>
            <a:off x="6858000" y="30815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Scripting &amp; automation tasks</a:t>
            </a:r>
            <a:endParaRPr lang="en-US" sz="700" dirty="0"/>
          </a:p>
        </p:txBody>
      </p:sp>
      <p:sp>
        <p:nvSpPr>
          <p:cNvPr id="62" name="Shape 52"/>
          <p:cNvSpPr/>
          <p:nvPr/>
        </p:nvSpPr>
        <p:spPr>
          <a:xfrm>
            <a:off x="320040" y="3675888"/>
            <a:ext cx="1920240" cy="11887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3" name="Shape 53"/>
          <p:cNvSpPr/>
          <p:nvPr/>
        </p:nvSpPr>
        <p:spPr>
          <a:xfrm>
            <a:off x="320040" y="3675888"/>
            <a:ext cx="1920240" cy="4572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1600200" y="3785616"/>
            <a:ext cx="566928" cy="182880"/>
          </a:xfrm>
          <a:prstGeom prst="rect">
            <a:avLst/>
          </a:prstGeom>
          <a:solidFill>
            <a:srgbClr val="007ACC">
              <a:alpha val="25000"/>
            </a:srgbClr>
          </a:solidFill>
          <a:ln w="3810">
            <a:solidFill>
              <a:srgbClr val="007ACC"/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1600200" y="37856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007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550" dirty="0"/>
          </a:p>
        </p:txBody>
      </p:sp>
      <p:pic>
        <p:nvPicPr>
          <p:cNvPr id="6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480" y="3785616"/>
            <a:ext cx="310896" cy="310896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411480" y="4151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Remote SSH</a:t>
            </a:r>
            <a:endParaRPr lang="en-US" sz="900" dirty="0"/>
          </a:p>
        </p:txBody>
      </p:sp>
      <p:sp>
        <p:nvSpPr>
          <p:cNvPr id="68" name="Text 57"/>
          <p:cNvSpPr/>
          <p:nvPr/>
        </p:nvSpPr>
        <p:spPr>
          <a:xfrm>
            <a:off x="411480" y="44256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editing on remote servers</a:t>
            </a:r>
            <a:endParaRPr lang="en-US" sz="700" dirty="0"/>
          </a:p>
        </p:txBody>
      </p:sp>
      <p:sp>
        <p:nvSpPr>
          <p:cNvPr id="69" name="Shape 58"/>
          <p:cNvSpPr/>
          <p:nvPr/>
        </p:nvSpPr>
        <p:spPr>
          <a:xfrm>
            <a:off x="2468880" y="3675888"/>
            <a:ext cx="1920240" cy="11887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0" name="Shape 59"/>
          <p:cNvSpPr/>
          <p:nvPr/>
        </p:nvSpPr>
        <p:spPr>
          <a:xfrm>
            <a:off x="2468880" y="3675888"/>
            <a:ext cx="192024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3749040" y="3785616"/>
            <a:ext cx="566928" cy="182880"/>
          </a:xfrm>
          <a:prstGeom prst="rect">
            <a:avLst/>
          </a:prstGeom>
          <a:solidFill>
            <a:srgbClr val="14B8A6">
              <a:alpha val="25000"/>
            </a:srgbClr>
          </a:solidFill>
          <a:ln w="3810">
            <a:solidFill>
              <a:srgbClr val="14B8A6"/>
            </a:solidFill>
            <a:prstDash val="solid"/>
          </a:ln>
        </p:spPr>
      </p:sp>
      <p:sp>
        <p:nvSpPr>
          <p:cNvPr id="72" name="Text 61"/>
          <p:cNvSpPr/>
          <p:nvPr/>
        </p:nvSpPr>
        <p:spPr>
          <a:xfrm>
            <a:off x="3749040" y="37856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550" dirty="0"/>
          </a:p>
        </p:txBody>
      </p:sp>
      <p:pic>
        <p:nvPicPr>
          <p:cNvPr id="7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60320" y="3785616"/>
            <a:ext cx="310896" cy="310896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2560320" y="4151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&amp; Postman</a:t>
            </a:r>
            <a:endParaRPr lang="en-US" sz="900" dirty="0"/>
          </a:p>
        </p:txBody>
      </p:sp>
      <p:sp>
        <p:nvSpPr>
          <p:cNvPr id="75" name="Text 63"/>
          <p:cNvSpPr/>
          <p:nvPr/>
        </p:nvSpPr>
        <p:spPr>
          <a:xfrm>
            <a:off x="2560320" y="44256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testing in containers</a:t>
            </a:r>
            <a:endParaRPr lang="en-US" sz="700" dirty="0"/>
          </a:p>
        </p:txBody>
      </p:sp>
      <p:sp>
        <p:nvSpPr>
          <p:cNvPr id="76" name="Shape 64"/>
          <p:cNvSpPr/>
          <p:nvPr/>
        </p:nvSpPr>
        <p:spPr>
          <a:xfrm>
            <a:off x="4617720" y="3675888"/>
            <a:ext cx="1920240" cy="11887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7" name="Shape 65"/>
          <p:cNvSpPr/>
          <p:nvPr/>
        </p:nvSpPr>
        <p:spPr>
          <a:xfrm>
            <a:off x="4617720" y="3675888"/>
            <a:ext cx="1920240" cy="45720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78" name="Shape 66"/>
          <p:cNvSpPr/>
          <p:nvPr/>
        </p:nvSpPr>
        <p:spPr>
          <a:xfrm>
            <a:off x="5897880" y="3785616"/>
            <a:ext cx="566928" cy="182880"/>
          </a:xfrm>
          <a:prstGeom prst="rect">
            <a:avLst/>
          </a:prstGeom>
          <a:solidFill>
            <a:srgbClr val="84CC16">
              <a:alpha val="25000"/>
            </a:srgbClr>
          </a:solidFill>
          <a:ln w="3810">
            <a:solidFill>
              <a:srgbClr val="84CC16"/>
            </a:solidFill>
            <a:prstDash val="solid"/>
          </a:ln>
        </p:spPr>
      </p:sp>
      <p:sp>
        <p:nvSpPr>
          <p:cNvPr id="79" name="Text 67"/>
          <p:cNvSpPr/>
          <p:nvPr/>
        </p:nvSpPr>
        <p:spPr>
          <a:xfrm>
            <a:off x="5897880" y="37856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550" dirty="0"/>
          </a:p>
        </p:txBody>
      </p:sp>
      <p:pic>
        <p:nvPicPr>
          <p:cNvPr id="8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3785616"/>
            <a:ext cx="310896" cy="310896"/>
          </a:xfrm>
          <a:prstGeom prst="rect">
            <a:avLst/>
          </a:prstGeom>
        </p:spPr>
      </p:pic>
      <p:sp>
        <p:nvSpPr>
          <p:cNvPr id="81" name="Text 68"/>
          <p:cNvSpPr/>
          <p:nvPr/>
        </p:nvSpPr>
        <p:spPr>
          <a:xfrm>
            <a:off x="4709160" y="4151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htop &amp; netstat</a:t>
            </a:r>
            <a:endParaRPr lang="en-US" sz="900" dirty="0"/>
          </a:p>
        </p:txBody>
      </p:sp>
      <p:sp>
        <p:nvSpPr>
          <p:cNvPr id="82" name="Text 69"/>
          <p:cNvSpPr/>
          <p:nvPr/>
        </p:nvSpPr>
        <p:spPr>
          <a:xfrm>
            <a:off x="4709160" y="44256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resource monitoring</a:t>
            </a:r>
            <a:endParaRPr lang="en-US" sz="700" dirty="0"/>
          </a:p>
        </p:txBody>
      </p:sp>
      <p:sp>
        <p:nvSpPr>
          <p:cNvPr id="83" name="Shape 70"/>
          <p:cNvSpPr/>
          <p:nvPr/>
        </p:nvSpPr>
        <p:spPr>
          <a:xfrm>
            <a:off x="6766560" y="3675888"/>
            <a:ext cx="1920240" cy="118872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4" name="Shape 71"/>
          <p:cNvSpPr/>
          <p:nvPr/>
        </p:nvSpPr>
        <p:spPr>
          <a:xfrm>
            <a:off x="6766560" y="3675888"/>
            <a:ext cx="1920240" cy="45720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sp>
        <p:nvSpPr>
          <p:cNvPr id="85" name="Shape 72"/>
          <p:cNvSpPr/>
          <p:nvPr/>
        </p:nvSpPr>
        <p:spPr>
          <a:xfrm>
            <a:off x="8046720" y="3785616"/>
            <a:ext cx="566928" cy="182880"/>
          </a:xfrm>
          <a:prstGeom prst="rect">
            <a:avLst/>
          </a:prstGeom>
          <a:solidFill>
            <a:srgbClr val="2496ED">
              <a:alpha val="25000"/>
            </a:srgbClr>
          </a:solidFill>
          <a:ln w="3810">
            <a:solidFill>
              <a:srgbClr val="2496ED"/>
            </a:solidFill>
            <a:prstDash val="solid"/>
          </a:ln>
        </p:spPr>
      </p:sp>
      <p:sp>
        <p:nvSpPr>
          <p:cNvPr id="86" name="Text 73"/>
          <p:cNvSpPr/>
          <p:nvPr/>
        </p:nvSpPr>
        <p:spPr>
          <a:xfrm>
            <a:off x="8046720" y="378561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550" dirty="0"/>
          </a:p>
        </p:txBody>
      </p:sp>
      <p:pic>
        <p:nvPicPr>
          <p:cNvPr id="8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0" y="3785616"/>
            <a:ext cx="310896" cy="310896"/>
          </a:xfrm>
          <a:prstGeom prst="rect">
            <a:avLst/>
          </a:prstGeom>
        </p:spPr>
      </p:pic>
      <p:sp>
        <p:nvSpPr>
          <p:cNvPr id="88" name="Text 74"/>
          <p:cNvSpPr/>
          <p:nvPr/>
        </p:nvSpPr>
        <p:spPr>
          <a:xfrm>
            <a:off x="6858000" y="41513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Hub</a:t>
            </a:r>
            <a:endParaRPr lang="en-US" sz="900" dirty="0"/>
          </a:p>
        </p:txBody>
      </p:sp>
      <p:sp>
        <p:nvSpPr>
          <p:cNvPr id="89" name="Text 75"/>
          <p:cNvSpPr/>
          <p:nvPr/>
        </p:nvSpPr>
        <p:spPr>
          <a:xfrm>
            <a:off x="6858000" y="44256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&amp; pull images during labs</a:t>
            </a:r>
            <a:endParaRPr lang="en-US" sz="700" dirty="0"/>
          </a:p>
        </p:txBody>
      </p:sp>
      <p:sp>
        <p:nvSpPr>
          <p:cNvPr id="90" name="Text 76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91" name="Shape 7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92" name="Text 7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Security Fundamentals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knowledge for DevOps — DNS, TLS, firewalls, Docker networking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4023360" cy="384048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0789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Networking Concepts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508760"/>
            <a:ext cx="1005840" cy="310896"/>
          </a:xfrm>
          <a:prstGeom prst="rect">
            <a:avLst/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508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536192" y="155448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→ IP translation for service discovery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57200" y="1965960"/>
            <a:ext cx="1005840" cy="310896"/>
          </a:xfrm>
          <a:prstGeom prst="rect">
            <a:avLst/>
          </a:prstGeom>
          <a:solidFill>
            <a:srgbClr val="3B82F6">
              <a:alpha val="20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9659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HTTP/HTTPS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1536192" y="201168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routing rules &amp; TLS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2423160"/>
            <a:ext cx="1005840" cy="310896"/>
          </a:xfrm>
          <a:prstGeom prst="rect">
            <a:avLst/>
          </a:prstGeom>
          <a:solidFill>
            <a:srgbClr val="22C55E">
              <a:alpha val="2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4231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TCP/UDP Ports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1536192" y="246888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-p 80:3000 port mapping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57200" y="2880360"/>
            <a:ext cx="1005840" cy="310896"/>
          </a:xfrm>
          <a:prstGeom prst="rect">
            <a:avLst/>
          </a:prstGeom>
          <a:solidFill>
            <a:srgbClr val="EAB308">
              <a:alpha val="20000"/>
            </a:srgbClr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8803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TLS/SSL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536192" y="292608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ACME Let's Encrypt certificates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" y="3337560"/>
            <a:ext cx="1005840" cy="310896"/>
          </a:xfrm>
          <a:prstGeom prst="rect">
            <a:avLst/>
          </a:prstGeom>
          <a:solidFill>
            <a:srgbClr val="F97316">
              <a:alpha val="20000"/>
            </a:srgbClr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3375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Firewall/UFW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536192" y="338328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groups, iptables on server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57200" y="3794760"/>
            <a:ext cx="1005840" cy="310896"/>
          </a:xfrm>
          <a:prstGeom prst="rect">
            <a:avLst/>
          </a:prstGeom>
          <a:solidFill>
            <a:srgbClr val="14B8A6">
              <a:alpha val="20000"/>
            </a:srgbClr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7947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536192" y="384048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client requests → backend containers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57200" y="4251960"/>
            <a:ext cx="1005840" cy="310896"/>
          </a:xfrm>
          <a:prstGeom prst="rect">
            <a:avLst/>
          </a:prstGeom>
          <a:solidFill>
            <a:srgbClr val="84CC16">
              <a:alpha val="20000"/>
            </a:srgbClr>
          </a:solidFill>
          <a:ln w="6350">
            <a:solidFill>
              <a:srgbClr val="84CC1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2519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Subnets/VPC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536192" y="429768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network segments in cloud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480560" y="987552"/>
            <a:ext cx="4343400" cy="3840480"/>
          </a:xfrm>
          <a:prstGeom prst="rect">
            <a:avLst/>
          </a:prstGeom>
          <a:solidFill>
            <a:srgbClr val="122A1C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051560"/>
            <a:ext cx="347472" cy="347472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02920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Practices Covered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617720" y="1536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🔒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919472" y="152704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containers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4919472" y="17465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appuser in Dockerfile — never run as root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4617720" y="1993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🔑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4919472" y="198424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for secrets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4919472" y="22037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credentials in images or compose</a:t>
            </a:r>
            <a:endParaRPr lang="en-US" sz="750" dirty="0"/>
          </a:p>
        </p:txBody>
      </p:sp>
      <p:sp>
        <p:nvSpPr>
          <p:cNvPr id="39" name="Text 35"/>
          <p:cNvSpPr/>
          <p:nvPr/>
        </p:nvSpPr>
        <p:spPr>
          <a:xfrm>
            <a:off x="4617720" y="2450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🔍</a:t>
            </a:r>
            <a:endParaRPr lang="en-US" sz="1200" dirty="0"/>
          </a:p>
        </p:txBody>
      </p:sp>
      <p:sp>
        <p:nvSpPr>
          <p:cNvPr id="40" name="Text 36"/>
          <p:cNvSpPr/>
          <p:nvPr/>
        </p:nvSpPr>
        <p:spPr>
          <a:xfrm>
            <a:off x="4919472" y="244144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scanning (Trivy)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4919472" y="26609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CVEs before pushing to production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461772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🔐</a:t>
            </a:r>
            <a:endParaRPr lang="en-US" sz="1200" dirty="0"/>
          </a:p>
        </p:txBody>
      </p:sp>
      <p:sp>
        <p:nvSpPr>
          <p:cNvPr id="43" name="Text 39"/>
          <p:cNvSpPr/>
          <p:nvPr/>
        </p:nvSpPr>
        <p:spPr>
          <a:xfrm>
            <a:off x="4919472" y="289864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everywhere</a:t>
            </a:r>
            <a:endParaRPr lang="en-US" sz="900" dirty="0"/>
          </a:p>
        </p:txBody>
      </p:sp>
      <p:sp>
        <p:nvSpPr>
          <p:cNvPr id="44" name="Text 40"/>
          <p:cNvSpPr/>
          <p:nvPr/>
        </p:nvSpPr>
        <p:spPr>
          <a:xfrm>
            <a:off x="4919472" y="31181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auto-generates Let's Encrypt TLS certs</a:t>
            </a:r>
            <a:endParaRPr lang="en-US" sz="750" dirty="0"/>
          </a:p>
        </p:txBody>
      </p:sp>
      <p:sp>
        <p:nvSpPr>
          <p:cNvPr id="45" name="Text 41"/>
          <p:cNvSpPr/>
          <p:nvPr/>
        </p:nvSpPr>
        <p:spPr>
          <a:xfrm>
            <a:off x="461772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📦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4919472" y="335584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base images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4919472" y="35753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Alpine-based images reduce attack surface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4617720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🌐</a:t>
            </a:r>
            <a:endParaRPr lang="en-US" sz="1200" dirty="0"/>
          </a:p>
        </p:txBody>
      </p:sp>
      <p:sp>
        <p:nvSpPr>
          <p:cNvPr id="49" name="Text 45"/>
          <p:cNvSpPr/>
          <p:nvPr/>
        </p:nvSpPr>
        <p:spPr>
          <a:xfrm>
            <a:off x="4919472" y="381304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isolation</a:t>
            </a:r>
            <a:endParaRPr lang="en-US" sz="900" dirty="0"/>
          </a:p>
        </p:txBody>
      </p:sp>
      <p:sp>
        <p:nvSpPr>
          <p:cNvPr id="50" name="Text 46"/>
          <p:cNvSpPr/>
          <p:nvPr/>
        </p:nvSpPr>
        <p:spPr>
          <a:xfrm>
            <a:off x="4919472" y="40325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networks restrict inter-container traffic</a:t>
            </a:r>
            <a:endParaRPr lang="en-US" sz="750" dirty="0"/>
          </a:p>
        </p:txBody>
      </p:sp>
      <p:sp>
        <p:nvSpPr>
          <p:cNvPr id="51" name="Text 47"/>
          <p:cNvSpPr/>
          <p:nvPr/>
        </p:nvSpPr>
        <p:spPr>
          <a:xfrm>
            <a:off x="461772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🗝️</a:t>
            </a:r>
            <a:endParaRPr lang="en-US" sz="1200" dirty="0"/>
          </a:p>
        </p:txBody>
      </p:sp>
      <p:sp>
        <p:nvSpPr>
          <p:cNvPr id="52" name="Text 48"/>
          <p:cNvSpPr/>
          <p:nvPr/>
        </p:nvSpPr>
        <p:spPr>
          <a:xfrm>
            <a:off x="4919472" y="427024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key auth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4919472" y="4489704"/>
            <a:ext cx="3767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auth on production servers</a:t>
            </a:r>
            <a:endParaRPr lang="en-US" sz="750" dirty="0"/>
          </a:p>
        </p:txBody>
      </p:sp>
      <p:sp>
        <p:nvSpPr>
          <p:cNvPr id="54" name="Text 50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55" name="Shape 5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Proposed Enhancements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the training + roadmap for deeper learning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8412480" cy="1828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87552"/>
            <a:ext cx="4023360" cy="384048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87552"/>
            <a:ext cx="4023360" cy="329184"/>
          </a:xfrm>
          <a:prstGeom prst="rect">
            <a:avLst/>
          </a:prstGeom>
          <a:solidFill>
            <a:srgbClr val="450A0A">
              <a:alpha val="70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Training Limitations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" y="14630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4173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discipline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1664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schedule — requires strong self-motivation and time management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38912" y="201168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19659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lab resources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" y="22128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contention during peak hours affected real-time lab performance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38912" y="25603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514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— conceptual only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5216" y="2761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introduced but no hands-on depth (Minikube/Kind labs missing)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38912" y="310896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063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provider labs limited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" y="33101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AWS/GCP coverage was conceptual — no live cloud account exercises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38912" y="36576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36118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Traefik TLS not practiced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5216" y="38587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HTTPS/TLS, TCP routing, middlewares were mentioned but not labbed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38912" y="420624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4160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tools —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5216" y="44074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Prometheus/Grafana/ELK introduced conceptually; no lab exercises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80560" y="987552"/>
            <a:ext cx="4343400" cy="3840480"/>
          </a:xfrm>
          <a:prstGeom prst="rect">
            <a:avLst/>
          </a:prstGeom>
          <a:solidFill>
            <a:srgbClr val="122A1C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80560" y="987552"/>
            <a:ext cx="4343400" cy="329184"/>
          </a:xfrm>
          <a:prstGeom prst="rect">
            <a:avLst/>
          </a:prstGeom>
          <a:solidFill>
            <a:srgbClr val="052E16">
              <a:alpha val="7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1024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Proposed Enhancements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146304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14173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Kubernetes lab module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0" y="16642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Minikube/Kind for local K8s practice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17720" y="201168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96596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cloud account labs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54880" y="221284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AWS/GCP accounts for real IaC with Terraform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256032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51460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CI/CD patterns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54880" y="276148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builds, caching, env-specific deploys, rollback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617720" y="310896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06324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lab (Trivy + Vault)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54880" y="331012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scanning, secret management, network policies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617720" y="365760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61188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lab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385876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for container metrics and alerting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17720" y="420624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41605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migration for Cloud IDE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44074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docker-compose to K8s for production scaling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8778240" y="489204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A2D14">
              <a:alpha val="65000"/>
            </a:srgbClr>
          </a:solidFill>
          <a:ln w="12700">
            <a:solidFill>
              <a:srgbClr val="0A2D14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4572000" cy="4572000"/>
          </a:xfrm>
          <a:prstGeom prst="ellipse">
            <a:avLst/>
          </a:prstGeom>
          <a:solidFill>
            <a:srgbClr val="062010">
              <a:alpha val="60000"/>
            </a:srgbClr>
          </a:solidFill>
          <a:ln w="12700">
            <a:solidFill>
              <a:srgbClr val="062010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training delivered and what it means for my career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32688"/>
            <a:ext cx="2286000" cy="27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78992"/>
            <a:ext cx="4114800" cy="162763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78992"/>
            <a:ext cx="64008" cy="16276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216152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" y="12161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Hands-on Learning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4632" y="1645920"/>
            <a:ext cx="3858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weeks of progressive, lab-heavy training from Linux basics to complete CI/CD pipelines — practical skills immediately usable.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27448" y="1078992"/>
            <a:ext cx="4114800" cy="162763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27448" y="1078992"/>
            <a:ext cx="64008" cy="1627632"/>
          </a:xfrm>
          <a:prstGeom prst="rect">
            <a:avLst/>
          </a:prstGeom>
          <a:solidFill>
            <a:srgbClr val="2496ED"/>
          </a:solidFill>
          <a:ln w="12700">
            <a:solidFill>
              <a:srgbClr val="2496E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16152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21808" y="12161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Traefik Mastery Applied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92040" y="1645920"/>
            <a:ext cx="3858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knowledge directly enabled the Cloud IDE implementation: per-user Docker containers + Traefik dynamic routing.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20040" y="2889504"/>
            <a:ext cx="4114800" cy="162763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20040" y="2889504"/>
            <a:ext cx="64008" cy="16276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02666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" y="30266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Mindset Acquired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84632" y="3456432"/>
            <a:ext cx="3858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IaaS/PaaS, container orchestration, CI/CD, and security practices aligned with modern industry demands.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727448" y="2889504"/>
            <a:ext cx="4114800" cy="1627632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27448" y="2889504"/>
            <a:ext cx="64008" cy="16276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26664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21808" y="30266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Advanced Certifications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892040" y="3456432"/>
            <a:ext cx="38587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 for AWS Solutions Architect, Docker DCA, or CKA (Certified Kubernetes Administrator) certifications.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0A2D14">
              <a:alpha val="65000"/>
            </a:srgbClr>
          </a:solidFill>
          <a:ln w="12700">
            <a:solidFill>
              <a:srgbClr val="0A2D14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2331720"/>
            <a:ext cx="27432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2560320"/>
            <a:ext cx="1463040" cy="77724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606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30358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08960" y="2560320"/>
            <a:ext cx="1463040" cy="77724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08960" y="2606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08960" y="30358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2560320"/>
            <a:ext cx="1463040" cy="77724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46320" y="2606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46320" y="30358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583680" y="2560320"/>
            <a:ext cx="1463040" cy="777240"/>
          </a:xfrm>
          <a:prstGeom prst="rect">
            <a:avLst/>
          </a:prstGeom>
          <a:solidFill>
            <a:srgbClr val="0D2016"/>
          </a:solidFill>
          <a:ln w="6350">
            <a:solidFill>
              <a:srgbClr val="1453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260604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83680" y="303580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</a:t>
            </a:r>
            <a:endParaRPr lang="en-US" sz="8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3566160"/>
            <a:ext cx="347472" cy="347472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3566160"/>
            <a:ext cx="347472" cy="347472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566160"/>
            <a:ext cx="347472" cy="347472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566160"/>
            <a:ext cx="347472" cy="347472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3566160"/>
            <a:ext cx="347472" cy="347472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3566160"/>
            <a:ext cx="347472" cy="34747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7200" y="4069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Engineering College Bikaner  ·  BTU, Rajasthan</a:t>
            </a:r>
            <a:endParaRPr lang="en-US" sz="850" dirty="0"/>
          </a:p>
        </p:txBody>
      </p:sp>
      <p:sp>
        <p:nvSpPr>
          <p:cNvPr id="26" name="Shape 1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30A06"/>
          </a:solidFill>
          <a:ln w="12700">
            <a:solidFill>
              <a:srgbClr val="030A06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C.D.T.S. Bikaner  ·  Cloud &amp; DevOps Fundamentals  ·  MCA Industrial Training  ·  Engineering College Bikaner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&amp; DevOps Fundamentals — CDTS Training</dc:title>
  <dc:subject>PptxGenJS Presentation</dc:subject>
  <dc:creator>PptxGenJS</dc:creator>
  <cp:lastModifiedBy>PptxGenJS</cp:lastModifiedBy>
  <cp:revision>1</cp:revision>
  <dcterms:created xsi:type="dcterms:W3CDTF">2026-05-16T01:45:36Z</dcterms:created>
  <dcterms:modified xsi:type="dcterms:W3CDTF">2026-05-16T01:45:36Z</dcterms:modified>
</cp:coreProperties>
</file>