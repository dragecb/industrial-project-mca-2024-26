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Arimo"/>
      <p:regular r:id="rId27"/>
      <p:bold r:id="rId28"/>
      <p:italic r:id="rId29"/>
      <p:boldItalic r:id="rId30"/>
    </p:embeddedFont>
    <p:embeddedFont>
      <p:font typeface="Arimo SemiBold"/>
      <p:regular r:id="rId31"/>
      <p:bold r:id="rId32"/>
      <p:italic r:id="rId33"/>
      <p:boldItalic r:id="rId34"/>
    </p:embeddedFont>
    <p:embeddedFont>
      <p:font typeface="Azeret Mono"/>
      <p:regular r:id="rId35"/>
      <p:bold r:id="rId36"/>
      <p:italic r:id="rId37"/>
      <p:boldItalic r:id="rId38"/>
    </p:embeddedFont>
    <p:embeddedFont>
      <p:font typeface="Arimo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moMedium-bold.fntdata"/><Relationship Id="rId20" Type="http://schemas.openxmlformats.org/officeDocument/2006/relationships/slide" Target="slides/slide15.xml"/><Relationship Id="rId42" Type="http://schemas.openxmlformats.org/officeDocument/2006/relationships/font" Target="fonts/ArimoMedium-boldItalic.fntdata"/><Relationship Id="rId41" Type="http://schemas.openxmlformats.org/officeDocument/2006/relationships/font" Target="fonts/ArimoMedium-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im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moSemiBold-regular.fntdata"/><Relationship Id="rId30" Type="http://schemas.openxmlformats.org/officeDocument/2006/relationships/font" Target="fonts/Arimo-boldItalic.fntdata"/><Relationship Id="rId11" Type="http://schemas.openxmlformats.org/officeDocument/2006/relationships/slide" Target="slides/slide6.xml"/><Relationship Id="rId33" Type="http://schemas.openxmlformats.org/officeDocument/2006/relationships/font" Target="fonts/ArimoSemiBold-italic.fntdata"/><Relationship Id="rId10" Type="http://schemas.openxmlformats.org/officeDocument/2006/relationships/slide" Target="slides/slide5.xml"/><Relationship Id="rId32" Type="http://schemas.openxmlformats.org/officeDocument/2006/relationships/font" Target="fonts/ArimoSemiBold-bold.fntdata"/><Relationship Id="rId13" Type="http://schemas.openxmlformats.org/officeDocument/2006/relationships/slide" Target="slides/slide8.xml"/><Relationship Id="rId35" Type="http://schemas.openxmlformats.org/officeDocument/2006/relationships/font" Target="fonts/AzeretMono-regular.fntdata"/><Relationship Id="rId12" Type="http://schemas.openxmlformats.org/officeDocument/2006/relationships/slide" Target="slides/slide7.xml"/><Relationship Id="rId34" Type="http://schemas.openxmlformats.org/officeDocument/2006/relationships/font" Target="fonts/ArimoSemiBold-boldItalic.fntdata"/><Relationship Id="rId15" Type="http://schemas.openxmlformats.org/officeDocument/2006/relationships/slide" Target="slides/slide10.xml"/><Relationship Id="rId37" Type="http://schemas.openxmlformats.org/officeDocument/2006/relationships/font" Target="fonts/AzeretMono-italic.fntdata"/><Relationship Id="rId14" Type="http://schemas.openxmlformats.org/officeDocument/2006/relationships/slide" Target="slides/slide9.xml"/><Relationship Id="rId36" Type="http://schemas.openxmlformats.org/officeDocument/2006/relationships/font" Target="fonts/AzeretMono-bold.fntdata"/><Relationship Id="rId17" Type="http://schemas.openxmlformats.org/officeDocument/2006/relationships/slide" Target="slides/slide12.xml"/><Relationship Id="rId39" Type="http://schemas.openxmlformats.org/officeDocument/2006/relationships/font" Target="fonts/ArimoMedium-regular.fntdata"/><Relationship Id="rId16" Type="http://schemas.openxmlformats.org/officeDocument/2006/relationships/slide" Target="slides/slide11.xml"/><Relationship Id="rId38" Type="http://schemas.openxmlformats.org/officeDocument/2006/relationships/font" Target="fonts/Azeret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270c068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e270c068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270c0680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270c0680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270c0680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e270c0680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270c0680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e270c0680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e270c0680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e270c0680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270c0680e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e270c0680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270c0680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270c0680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270c0680e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270c0680e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270c0680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e270c0680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270c0680e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270c0680e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270c0680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e270c0680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270c0680e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e270c0680e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e270c0680e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e270c0680e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270c0680e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e270c0680e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e270c0680e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e270c0680e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e270c0680e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e270c0680e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e270c0680e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e270c0680e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5.jpg"/><Relationship Id="rId5" Type="http://schemas.openxmlformats.org/officeDocument/2006/relationships/image" Target="../media/image18.jp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6.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A E-Commerce website solution for fashion.</a:t>
            </a:r>
            <a:endParaRPr/>
          </a:p>
          <a:p>
            <a:pPr indent="0" lvl="0" marL="0" rtl="0" algn="l">
              <a:spcBef>
                <a:spcPts val="0"/>
              </a:spcBef>
              <a:spcAft>
                <a:spcPts val="0"/>
              </a:spcAft>
              <a:buClr>
                <a:schemeClr val="lt1"/>
              </a:buClr>
              <a:buSzPts val="1100"/>
              <a:buFont typeface="Arial"/>
              <a:buNone/>
            </a:pPr>
            <a:r>
              <a:rPr lang="en"/>
              <a:t>Revolutionizing Fashion Through Smart Wardrobe Management, Easy access to every corner.</a:t>
            </a:r>
            <a:endParaRPr/>
          </a:p>
        </p:txBody>
      </p:sp>
      <p:sp>
        <p:nvSpPr>
          <p:cNvPr id="353" name="Google Shape;353;p4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Gagan Saini</a:t>
            </a:r>
            <a:endParaRPr/>
          </a:p>
        </p:txBody>
      </p:sp>
      <p:sp>
        <p:nvSpPr>
          <p:cNvPr id="354" name="Google Shape;354;p44"/>
          <p:cNvSpPr txBox="1"/>
          <p:nvPr>
            <p:ph idx="3" type="subTitle"/>
          </p:nvPr>
        </p:nvSpPr>
        <p:spPr>
          <a:xfrm>
            <a:off x="3890326" y="582750"/>
            <a:ext cx="1743300" cy="123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MCA 4th Semester</a:t>
            </a:r>
            <a:endParaRPr/>
          </a:p>
        </p:txBody>
      </p:sp>
      <p:sp>
        <p:nvSpPr>
          <p:cNvPr id="355" name="Google Shape;355;p44"/>
          <p:cNvSpPr txBox="1"/>
          <p:nvPr>
            <p:ph idx="4" type="subTitle"/>
          </p:nvPr>
        </p:nvSpPr>
        <p:spPr>
          <a:xfrm>
            <a:off x="6608351" y="582750"/>
            <a:ext cx="1743300" cy="1230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Industrial Project</a:t>
            </a:r>
            <a:endParaRPr/>
          </a:p>
        </p:txBody>
      </p:sp>
      <p:sp>
        <p:nvSpPr>
          <p:cNvPr id="356" name="Google Shape;356;p44"/>
          <p:cNvSpPr txBox="1"/>
          <p:nvPr>
            <p:ph type="title"/>
          </p:nvPr>
        </p:nvSpPr>
        <p:spPr>
          <a:xfrm>
            <a:off x="795525" y="2323100"/>
            <a:ext cx="4838100" cy="14532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Closet</a:t>
            </a:r>
            <a:endParaRPr/>
          </a:p>
          <a:p>
            <a:pPr indent="0" lvl="0" marL="0" rtl="0" algn="l">
              <a:spcBef>
                <a:spcPts val="0"/>
              </a:spcBef>
              <a:spcAft>
                <a:spcPts val="0"/>
              </a:spcAft>
              <a:buClr>
                <a:schemeClr val="lt1"/>
              </a:buClr>
              <a:buSzPts val="1100"/>
              <a:buFont typeface="Arial"/>
              <a:buNone/>
            </a:pPr>
            <a:r>
              <a:rPr lang="en"/>
              <a:t>Fashion Demo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5"/>
          <p:cNvCxnSpPr/>
          <p:nvPr/>
        </p:nvCxnSpPr>
        <p:spPr>
          <a:xfrm flipH="1" rot="10800000">
            <a:off x="1496600" y="1561050"/>
            <a:ext cx="615900" cy="2700"/>
          </a:xfrm>
          <a:prstGeom prst="straightConnector1">
            <a:avLst/>
          </a:prstGeom>
          <a:noFill/>
          <a:ln cap="flat" cmpd="sng" w="9525">
            <a:solidFill>
              <a:schemeClr val="dk1"/>
            </a:solidFill>
            <a:prstDash val="solid"/>
            <a:round/>
            <a:headEnd len="med" w="med" type="none"/>
            <a:tailEnd len="med" w="med" type="oval"/>
          </a:ln>
        </p:spPr>
      </p:cxnSp>
      <p:pic>
        <p:nvPicPr>
          <p:cNvPr id="362" name="Google Shape;362;p45" title="gagan2.jpeg"/>
          <p:cNvPicPr preferRelativeResize="0"/>
          <p:nvPr>
            <p:ph idx="2" type="pic"/>
          </p:nvPr>
        </p:nvPicPr>
        <p:blipFill rotWithShape="1">
          <a:blip r:embed="rId3">
            <a:alphaModFix/>
          </a:blip>
          <a:srcRect b="0" l="120" r="130" t="0"/>
          <a:stretch/>
        </p:blipFill>
        <p:spPr>
          <a:xfrm>
            <a:off x="277500" y="1293000"/>
            <a:ext cx="1333800" cy="1337100"/>
          </a:xfrm>
          <a:prstGeom prst="roundRect">
            <a:avLst>
              <a:gd fmla="val 16667" name="adj"/>
            </a:avLst>
          </a:prstGeom>
        </p:spPr>
      </p:pic>
      <p:sp>
        <p:nvSpPr>
          <p:cNvPr id="363" name="Google Shape;363;p4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64" name="Google Shape;364;p45"/>
          <p:cNvSpPr txBox="1"/>
          <p:nvPr>
            <p:ph type="title"/>
          </p:nvPr>
        </p:nvSpPr>
        <p:spPr>
          <a:xfrm>
            <a:off x="277500" y="577275"/>
            <a:ext cx="7137000" cy="9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Product team</a:t>
            </a:r>
            <a:endParaRPr/>
          </a:p>
        </p:txBody>
      </p:sp>
      <p:sp>
        <p:nvSpPr>
          <p:cNvPr id="365" name="Google Shape;365;p45"/>
          <p:cNvSpPr txBox="1"/>
          <p:nvPr>
            <p:ph idx="1" type="body"/>
          </p:nvPr>
        </p:nvSpPr>
        <p:spPr>
          <a:xfrm>
            <a:off x="2642000" y="2198150"/>
            <a:ext cx="4139400" cy="1558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200">
                <a:solidFill>
                  <a:schemeClr val="lt1"/>
                </a:solidFill>
                <a:latin typeface="Roboto"/>
                <a:ea typeface="Roboto"/>
                <a:cs typeface="Roboto"/>
                <a:sym typeface="Roboto"/>
              </a:rPr>
              <a:t>A passionate and skilled Software Developer Engineer with expertise in React.js and a proven track record of creating impactful web applications. </a:t>
            </a:r>
            <a:endParaRPr sz="1200">
              <a:solidFill>
                <a:schemeClr val="lt1"/>
              </a:solidFill>
              <a:latin typeface="Roboto"/>
              <a:ea typeface="Roboto"/>
              <a:cs typeface="Roboto"/>
              <a:sym typeface="Roboto"/>
            </a:endParaRPr>
          </a:p>
          <a:p>
            <a:pPr indent="0" lvl="0" marL="0" rtl="0" algn="l">
              <a:spcBef>
                <a:spcPts val="0"/>
              </a:spcBef>
              <a:spcAft>
                <a:spcPts val="0"/>
              </a:spcAft>
              <a:buClr>
                <a:schemeClr val="lt1"/>
              </a:buClr>
              <a:buSzPts val="1100"/>
              <a:buNone/>
            </a:pPr>
            <a:r>
              <a:t/>
            </a:r>
            <a:endParaRPr sz="1200">
              <a:solidFill>
                <a:schemeClr val="lt1"/>
              </a:solidFill>
              <a:latin typeface="Roboto"/>
              <a:ea typeface="Roboto"/>
              <a:cs typeface="Roboto"/>
              <a:sym typeface="Roboto"/>
            </a:endParaRPr>
          </a:p>
          <a:p>
            <a:pPr indent="0" lvl="0" marL="0" rtl="0" algn="l">
              <a:spcBef>
                <a:spcPts val="0"/>
              </a:spcBef>
              <a:spcAft>
                <a:spcPts val="0"/>
              </a:spcAft>
              <a:buClr>
                <a:schemeClr val="lt1"/>
              </a:buClr>
              <a:buSzPts val="1100"/>
              <a:buNone/>
            </a:pPr>
            <a:r>
              <a:rPr lang="en" sz="1200">
                <a:solidFill>
                  <a:schemeClr val="lt1"/>
                </a:solidFill>
                <a:latin typeface="Roboto"/>
                <a:ea typeface="Roboto"/>
                <a:cs typeface="Roboto"/>
                <a:sym typeface="Roboto"/>
              </a:rPr>
              <a:t>With over 5M+ views, my work has captured the attention of a wide audience, showcasing my dedication to delivering high-quality solutions.</a:t>
            </a:r>
            <a:endParaRPr sz="1200"/>
          </a:p>
        </p:txBody>
      </p:sp>
      <p:sp>
        <p:nvSpPr>
          <p:cNvPr id="366" name="Google Shape;366;p45"/>
          <p:cNvSpPr txBox="1"/>
          <p:nvPr>
            <p:ph idx="16" type="subTitle"/>
          </p:nvPr>
        </p:nvSpPr>
        <p:spPr>
          <a:xfrm>
            <a:off x="2642000" y="1361225"/>
            <a:ext cx="17154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sz="1600"/>
              <a:t>Gagan Saini</a:t>
            </a:r>
            <a:endParaRPr sz="1400"/>
          </a:p>
          <a:p>
            <a:pPr indent="0" lvl="0" marL="0" rtl="0" algn="l">
              <a:lnSpc>
                <a:spcPct val="115000"/>
              </a:lnSpc>
              <a:spcBef>
                <a:spcPts val="0"/>
              </a:spcBef>
              <a:spcAft>
                <a:spcPts val="0"/>
              </a:spcAft>
              <a:buClr>
                <a:schemeClr val="lt1"/>
              </a:buClr>
              <a:buSzPts val="1100"/>
              <a:buNone/>
            </a:pPr>
            <a:r>
              <a:rPr b="0" lang="en" sz="1400"/>
              <a:t>Software Engineer</a:t>
            </a:r>
            <a:endParaRPr sz="1400"/>
          </a:p>
        </p:txBody>
      </p:sp>
      <p:sp>
        <p:nvSpPr>
          <p:cNvPr id="367" name="Google Shape;367;p45"/>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Gagan Saini</a:t>
            </a:r>
            <a:endParaRPr/>
          </a:p>
        </p:txBody>
      </p:sp>
      <p:sp>
        <p:nvSpPr>
          <p:cNvPr id="368" name="Google Shape;368;p45"/>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Industrial Project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74" name="Google Shape;374;p46"/>
          <p:cNvSpPr txBox="1"/>
          <p:nvPr>
            <p:ph type="title"/>
          </p:nvPr>
        </p:nvSpPr>
        <p:spPr>
          <a:xfrm>
            <a:off x="2449500" y="3158975"/>
            <a:ext cx="4549800" cy="476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t/>
            </a:r>
            <a:endParaRPr/>
          </a:p>
          <a:p>
            <a:pPr indent="0" lvl="0" marL="0" rtl="0" algn="l">
              <a:spcBef>
                <a:spcPts val="0"/>
              </a:spcBef>
              <a:spcAft>
                <a:spcPts val="0"/>
              </a:spcAft>
              <a:buNone/>
            </a:pPr>
            <a:r>
              <a:rPr lang="en" sz="3200"/>
              <a:t>To Closet Fashion Demo</a:t>
            </a:r>
            <a:endParaRPr sz="3200"/>
          </a:p>
        </p:txBody>
      </p:sp>
      <p:sp>
        <p:nvSpPr>
          <p:cNvPr id="375" name="Google Shape;375;p46"/>
          <p:cNvSpPr txBox="1"/>
          <p:nvPr>
            <p:ph type="title"/>
          </p:nvPr>
        </p:nvSpPr>
        <p:spPr>
          <a:xfrm>
            <a:off x="799500" y="1328875"/>
            <a:ext cx="7849800" cy="1318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6000"/>
              <a:t>Welcome</a:t>
            </a:r>
            <a:r>
              <a:rPr lang="en"/>
              <a:t> </a:t>
            </a:r>
            <a:endParaRPr/>
          </a:p>
          <a:p>
            <a:pPr indent="0" lvl="0" marL="0" rtl="0" algn="l">
              <a:spcBef>
                <a:spcPts val="0"/>
              </a:spcBef>
              <a:spcAft>
                <a:spcPts val="0"/>
              </a:spcAft>
              <a:buNone/>
            </a:pPr>
            <a:r>
              <a:rPr lang="en" sz="3200"/>
              <a:t>To all the respected teachers and Students.</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 short history of the product</a:t>
            </a:r>
            <a:endParaRPr/>
          </a:p>
        </p:txBody>
      </p:sp>
      <p:cxnSp>
        <p:nvCxnSpPr>
          <p:cNvPr descr="A timeline stretching across several years. " id="381" name="Google Shape;381;p47"/>
          <p:cNvCxnSpPr/>
          <p:nvPr/>
        </p:nvCxnSpPr>
        <p:spPr>
          <a:xfrm>
            <a:off x="282300" y="2869750"/>
            <a:ext cx="8579400" cy="0"/>
          </a:xfrm>
          <a:prstGeom prst="straightConnector1">
            <a:avLst/>
          </a:prstGeom>
          <a:noFill/>
          <a:ln cap="flat" cmpd="sng" w="9525">
            <a:solidFill>
              <a:schemeClr val="dk1"/>
            </a:solidFill>
            <a:prstDash val="solid"/>
            <a:round/>
            <a:headEnd len="med" w="med" type="oval"/>
            <a:tailEnd len="med" w="med" type="oval"/>
          </a:ln>
        </p:spPr>
      </p:cxnSp>
      <p:sp>
        <p:nvSpPr>
          <p:cNvPr id="382" name="Google Shape;382;p47"/>
          <p:cNvSpPr txBox="1"/>
          <p:nvPr/>
        </p:nvSpPr>
        <p:spPr>
          <a:xfrm>
            <a:off x="2823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P</a:t>
            </a:r>
            <a:r>
              <a:rPr lang="en" sz="1100">
                <a:solidFill>
                  <a:schemeClr val="dk1"/>
                </a:solidFill>
                <a:latin typeface="Arimo"/>
                <a:ea typeface="Arimo"/>
                <a:cs typeface="Arimo"/>
                <a:sym typeface="Arimo"/>
              </a:rPr>
              <a:t>roduct Debut</a:t>
            </a:r>
            <a:endParaRPr sz="1100">
              <a:solidFill>
                <a:schemeClr val="dk1"/>
              </a:solidFill>
              <a:latin typeface="Arimo"/>
              <a:ea typeface="Arimo"/>
              <a:cs typeface="Arimo"/>
              <a:sym typeface="Arimo"/>
            </a:endParaRPr>
          </a:p>
          <a:p>
            <a:pPr indent="0" lvl="0" marL="0" rtl="0" algn="l">
              <a:spcBef>
                <a:spcPts val="0"/>
              </a:spcBef>
              <a:spcAft>
                <a:spcPts val="0"/>
              </a:spcAft>
              <a:buNone/>
            </a:pPr>
            <a: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rgbClr val="000000"/>
              </a:buClr>
              <a:buSzPts val="1100"/>
              <a:buFont typeface="Arial"/>
              <a:buNone/>
            </a:pPr>
            <a:r>
              <a:rPr lang="en" sz="800">
                <a:solidFill>
                  <a:schemeClr val="dk1"/>
                </a:solidFill>
                <a:latin typeface="Arimo"/>
                <a:ea typeface="Arimo"/>
                <a:cs typeface="Arimo"/>
                <a:sym typeface="Arimo"/>
              </a:rPr>
              <a:t>Finalize the product idea, and created the outline for it. Designed the flow and schema for system.</a:t>
            </a:r>
            <a:endParaRPr sz="800">
              <a:solidFill>
                <a:schemeClr val="dk1"/>
              </a:solidFill>
              <a:latin typeface="Arimo"/>
              <a:ea typeface="Arimo"/>
              <a:cs typeface="Arimo"/>
              <a:sym typeface="Arimo"/>
            </a:endParaRPr>
          </a:p>
        </p:txBody>
      </p:sp>
      <p:sp>
        <p:nvSpPr>
          <p:cNvPr id="383" name="Google Shape;383;p47"/>
          <p:cNvSpPr txBox="1"/>
          <p:nvPr/>
        </p:nvSpPr>
        <p:spPr>
          <a:xfrm>
            <a:off x="172327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Product Setup</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800">
                <a:solidFill>
                  <a:schemeClr val="dk1"/>
                </a:solidFill>
                <a:latin typeface="Arimo"/>
                <a:ea typeface="Arimo"/>
                <a:cs typeface="Arimo"/>
                <a:sym typeface="Arimo"/>
              </a:rPr>
              <a:t>Created the Home page, and product details page with all the details and navigation.</a:t>
            </a:r>
            <a:endParaRPr sz="800">
              <a:solidFill>
                <a:schemeClr val="dk1"/>
              </a:solidFill>
              <a:latin typeface="Arimo"/>
              <a:ea typeface="Arimo"/>
              <a:cs typeface="Arimo"/>
              <a:sym typeface="Arimo"/>
            </a:endParaRPr>
          </a:p>
        </p:txBody>
      </p:sp>
      <p:sp>
        <p:nvSpPr>
          <p:cNvPr id="384" name="Google Shape;384;p47"/>
          <p:cNvSpPr txBox="1"/>
          <p:nvPr/>
        </p:nvSpPr>
        <p:spPr>
          <a:xfrm>
            <a:off x="31642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Cart Feature</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Users are allowed to save products into their cart and continue shopping where they left without </a:t>
            </a:r>
            <a:r>
              <a:rPr lang="en" sz="800">
                <a:solidFill>
                  <a:schemeClr val="dk1"/>
                </a:solidFill>
                <a:latin typeface="Arimo"/>
                <a:ea typeface="Arimo"/>
                <a:cs typeface="Arimo"/>
                <a:sym typeface="Arimo"/>
              </a:rPr>
              <a:t>disturbance.</a:t>
            </a:r>
            <a:endParaRPr sz="800">
              <a:solidFill>
                <a:schemeClr val="dk1"/>
              </a:solidFill>
              <a:latin typeface="Arimo"/>
              <a:ea typeface="Arimo"/>
              <a:cs typeface="Arimo"/>
              <a:sym typeface="Arimo"/>
            </a:endParaRPr>
          </a:p>
        </p:txBody>
      </p:sp>
      <p:sp>
        <p:nvSpPr>
          <p:cNvPr id="385" name="Google Shape;385;p47"/>
          <p:cNvSpPr txBox="1"/>
          <p:nvPr/>
        </p:nvSpPr>
        <p:spPr>
          <a:xfrm>
            <a:off x="46052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Become Seller</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800">
                <a:solidFill>
                  <a:schemeClr val="dk1"/>
                </a:solidFill>
                <a:latin typeface="Arimo"/>
                <a:ea typeface="Arimo"/>
                <a:cs typeface="Arimo"/>
                <a:sym typeface="Arimo"/>
              </a:rPr>
              <a:t>Now users can become seller also and sell their product, they just need to activate seller account.</a:t>
            </a:r>
            <a:r>
              <a:rPr lang="en" sz="700">
                <a:solidFill>
                  <a:schemeClr val="dk1"/>
                </a:solidFill>
                <a:latin typeface="Arimo"/>
                <a:ea typeface="Arimo"/>
                <a:cs typeface="Arimo"/>
                <a:sym typeface="Arimo"/>
              </a:rPr>
              <a:t>. </a:t>
            </a:r>
            <a:endParaRPr sz="700">
              <a:solidFill>
                <a:schemeClr val="dk1"/>
              </a:solidFill>
              <a:latin typeface="Arimo"/>
              <a:ea typeface="Arimo"/>
              <a:cs typeface="Arimo"/>
              <a:sym typeface="Arimo"/>
            </a:endParaRPr>
          </a:p>
        </p:txBody>
      </p:sp>
      <p:sp>
        <p:nvSpPr>
          <p:cNvPr id="386" name="Google Shape;386;p47"/>
          <p:cNvSpPr txBox="1"/>
          <p:nvPr/>
        </p:nvSpPr>
        <p:spPr>
          <a:xfrm>
            <a:off x="604615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Admin Panel</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Created the seller admin panel, for managing the products, orders from the seller side.</a:t>
            </a:r>
            <a:r>
              <a:rPr lang="en" sz="700">
                <a:solidFill>
                  <a:schemeClr val="dk1"/>
                </a:solidFill>
                <a:latin typeface="Arimo"/>
                <a:ea typeface="Arimo"/>
                <a:cs typeface="Arimo"/>
                <a:sym typeface="Arimo"/>
              </a:rPr>
              <a:t>.</a:t>
            </a:r>
            <a:endParaRPr sz="700">
              <a:solidFill>
                <a:schemeClr val="dk1"/>
              </a:solidFill>
              <a:latin typeface="Arimo"/>
              <a:ea typeface="Arimo"/>
              <a:cs typeface="Arimo"/>
              <a:sym typeface="Arimo"/>
            </a:endParaRPr>
          </a:p>
        </p:txBody>
      </p:sp>
      <p:sp>
        <p:nvSpPr>
          <p:cNvPr id="387" name="Google Shape;387;p47"/>
          <p:cNvSpPr txBox="1"/>
          <p:nvPr/>
        </p:nvSpPr>
        <p:spPr>
          <a:xfrm>
            <a:off x="74871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Ready to Prod</a:t>
            </a:r>
            <a:endParaRPr i="1"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Closet Fashion is ready with MVP features and currently going </a:t>
            </a:r>
            <a:r>
              <a:rPr lang="en" sz="800">
                <a:solidFill>
                  <a:schemeClr val="dk1"/>
                </a:solidFill>
                <a:latin typeface="Arimo"/>
                <a:ea typeface="Arimo"/>
                <a:cs typeface="Arimo"/>
                <a:sym typeface="Arimo"/>
              </a:rPr>
              <a:t>through </a:t>
            </a:r>
            <a:r>
              <a:rPr lang="en" sz="800">
                <a:solidFill>
                  <a:schemeClr val="dk1"/>
                </a:solidFill>
                <a:latin typeface="Arimo"/>
                <a:ea typeface="Arimo"/>
                <a:cs typeface="Arimo"/>
                <a:sym typeface="Arimo"/>
              </a:rPr>
              <a:t>beta testing phase.</a:t>
            </a:r>
            <a:endParaRPr sz="800">
              <a:solidFill>
                <a:schemeClr val="dk1"/>
              </a:solidFill>
              <a:latin typeface="Arimo"/>
              <a:ea typeface="Arimo"/>
              <a:cs typeface="Arimo"/>
              <a:sym typeface="Arimo"/>
            </a:endParaRPr>
          </a:p>
        </p:txBody>
      </p:sp>
      <p:cxnSp>
        <p:nvCxnSpPr>
          <p:cNvPr id="388" name="Google Shape;388;p47"/>
          <p:cNvCxnSpPr/>
          <p:nvPr/>
        </p:nvCxnSpPr>
        <p:spPr>
          <a:xfrm>
            <a:off x="9699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89" name="Google Shape;389;p47"/>
          <p:cNvCxnSpPr/>
          <p:nvPr/>
        </p:nvCxnSpPr>
        <p:spPr>
          <a:xfrm>
            <a:off x="24100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90" name="Google Shape;390;p47"/>
          <p:cNvCxnSpPr/>
          <p:nvPr/>
        </p:nvCxnSpPr>
        <p:spPr>
          <a:xfrm>
            <a:off x="38500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91" name="Google Shape;391;p47"/>
          <p:cNvCxnSpPr/>
          <p:nvPr/>
        </p:nvCxnSpPr>
        <p:spPr>
          <a:xfrm>
            <a:off x="52901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92" name="Google Shape;392;p47"/>
          <p:cNvCxnSpPr/>
          <p:nvPr/>
        </p:nvCxnSpPr>
        <p:spPr>
          <a:xfrm>
            <a:off x="67301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93" name="Google Shape;393;p47"/>
          <p:cNvCxnSpPr/>
          <p:nvPr/>
        </p:nvCxnSpPr>
        <p:spPr>
          <a:xfrm>
            <a:off x="8170249" y="2419900"/>
            <a:ext cx="0" cy="421500"/>
          </a:xfrm>
          <a:prstGeom prst="straightConnector1">
            <a:avLst/>
          </a:prstGeom>
          <a:noFill/>
          <a:ln cap="flat" cmpd="sng" w="9525">
            <a:solidFill>
              <a:schemeClr val="dk1"/>
            </a:solidFill>
            <a:prstDash val="solid"/>
            <a:round/>
            <a:headEnd len="med" w="med" type="none"/>
            <a:tailEnd len="med" w="med" type="none"/>
          </a:ln>
        </p:spPr>
      </p:cxnSp>
      <p:sp>
        <p:nvSpPr>
          <p:cNvPr id="394" name="Google Shape;394;p47"/>
          <p:cNvSpPr/>
          <p:nvPr/>
        </p:nvSpPr>
        <p:spPr>
          <a:xfrm>
            <a:off x="6174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Arimo"/>
                <a:ea typeface="Arimo"/>
                <a:cs typeface="Arimo"/>
                <a:sym typeface="Arimo"/>
              </a:rPr>
              <a:t>December</a:t>
            </a:r>
            <a:endParaRPr sz="700">
              <a:solidFill>
                <a:schemeClr val="dk1"/>
              </a:solidFill>
              <a:latin typeface="Arimo"/>
              <a:ea typeface="Arimo"/>
              <a:cs typeface="Arimo"/>
              <a:sym typeface="Arimo"/>
            </a:endParaRPr>
          </a:p>
        </p:txBody>
      </p:sp>
      <p:sp>
        <p:nvSpPr>
          <p:cNvPr id="395" name="Google Shape;395;p47"/>
          <p:cNvSpPr/>
          <p:nvPr/>
        </p:nvSpPr>
        <p:spPr>
          <a:xfrm>
            <a:off x="20574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January</a:t>
            </a:r>
            <a:endParaRPr sz="800">
              <a:solidFill>
                <a:schemeClr val="dk1"/>
              </a:solidFill>
              <a:latin typeface="Arimo"/>
              <a:ea typeface="Arimo"/>
              <a:cs typeface="Arimo"/>
              <a:sym typeface="Arimo"/>
            </a:endParaRPr>
          </a:p>
        </p:txBody>
      </p:sp>
      <p:sp>
        <p:nvSpPr>
          <p:cNvPr id="396" name="Google Shape;396;p47"/>
          <p:cNvSpPr/>
          <p:nvPr/>
        </p:nvSpPr>
        <p:spPr>
          <a:xfrm>
            <a:off x="34975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February</a:t>
            </a:r>
            <a:endParaRPr sz="800">
              <a:solidFill>
                <a:schemeClr val="dk1"/>
              </a:solidFill>
              <a:latin typeface="Arimo"/>
              <a:ea typeface="Arimo"/>
              <a:cs typeface="Arimo"/>
              <a:sym typeface="Arimo"/>
            </a:endParaRPr>
          </a:p>
        </p:txBody>
      </p:sp>
      <p:sp>
        <p:nvSpPr>
          <p:cNvPr id="397" name="Google Shape;397;p47"/>
          <p:cNvSpPr/>
          <p:nvPr/>
        </p:nvSpPr>
        <p:spPr>
          <a:xfrm>
            <a:off x="49375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March</a:t>
            </a:r>
            <a:endParaRPr sz="800">
              <a:solidFill>
                <a:schemeClr val="dk1"/>
              </a:solidFill>
              <a:latin typeface="Arimo"/>
              <a:ea typeface="Arimo"/>
              <a:cs typeface="Arimo"/>
              <a:sym typeface="Arimo"/>
            </a:endParaRPr>
          </a:p>
        </p:txBody>
      </p:sp>
      <p:sp>
        <p:nvSpPr>
          <p:cNvPr id="398" name="Google Shape;398;p47"/>
          <p:cNvSpPr/>
          <p:nvPr/>
        </p:nvSpPr>
        <p:spPr>
          <a:xfrm>
            <a:off x="63776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April</a:t>
            </a:r>
            <a:endParaRPr sz="800">
              <a:solidFill>
                <a:schemeClr val="dk1"/>
              </a:solidFill>
              <a:latin typeface="Arimo"/>
              <a:ea typeface="Arimo"/>
              <a:cs typeface="Arimo"/>
              <a:sym typeface="Arimo"/>
            </a:endParaRPr>
          </a:p>
        </p:txBody>
      </p:sp>
      <p:sp>
        <p:nvSpPr>
          <p:cNvPr id="399" name="Google Shape;399;p47"/>
          <p:cNvSpPr/>
          <p:nvPr/>
        </p:nvSpPr>
        <p:spPr>
          <a:xfrm>
            <a:off x="7810849" y="2175400"/>
            <a:ext cx="718800" cy="2445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Arimo"/>
                <a:ea typeface="Arimo"/>
                <a:cs typeface="Arimo"/>
                <a:sym typeface="Arimo"/>
              </a:rPr>
              <a:t>Today</a:t>
            </a:r>
            <a:endParaRPr sz="800">
              <a:solidFill>
                <a:schemeClr val="lt2"/>
              </a:solidFill>
              <a:latin typeface="Arimo"/>
              <a:ea typeface="Arimo"/>
              <a:cs typeface="Arimo"/>
              <a:sym typeface="Arimo"/>
            </a:endParaRPr>
          </a:p>
        </p:txBody>
      </p:sp>
      <p:sp>
        <p:nvSpPr>
          <p:cNvPr id="400" name="Google Shape;400;p47"/>
          <p:cNvSpPr/>
          <p:nvPr/>
        </p:nvSpPr>
        <p:spPr>
          <a:xfrm>
            <a:off x="9399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1" name="Google Shape;401;p47"/>
          <p:cNvSpPr/>
          <p:nvPr/>
        </p:nvSpPr>
        <p:spPr>
          <a:xfrm>
            <a:off x="23800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2" name="Google Shape;402;p47"/>
          <p:cNvSpPr/>
          <p:nvPr/>
        </p:nvSpPr>
        <p:spPr>
          <a:xfrm>
            <a:off x="38200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3" name="Google Shape;403;p47"/>
          <p:cNvSpPr/>
          <p:nvPr/>
        </p:nvSpPr>
        <p:spPr>
          <a:xfrm>
            <a:off x="52601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4" name="Google Shape;404;p47"/>
          <p:cNvSpPr/>
          <p:nvPr/>
        </p:nvSpPr>
        <p:spPr>
          <a:xfrm>
            <a:off x="67001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5" name="Google Shape;405;p47"/>
          <p:cNvSpPr/>
          <p:nvPr/>
        </p:nvSpPr>
        <p:spPr>
          <a:xfrm>
            <a:off x="81402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06" name="Google Shape;406;p4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Gagan Saini</a:t>
            </a:r>
            <a:endParaRPr/>
          </a:p>
        </p:txBody>
      </p:sp>
      <p:sp>
        <p:nvSpPr>
          <p:cNvPr id="407" name="Google Shape;407;p4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Industrial Product</a:t>
            </a:r>
            <a:endParaRPr/>
          </a:p>
        </p:txBody>
      </p:sp>
      <p:sp>
        <p:nvSpPr>
          <p:cNvPr id="408" name="Google Shape;408;p4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1. Product Preview</a:t>
            </a:r>
            <a:endParaRPr/>
          </a:p>
        </p:txBody>
      </p:sp>
      <p:sp>
        <p:nvSpPr>
          <p:cNvPr id="414" name="Google Shape;414;p48"/>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2. Features Included</a:t>
            </a:r>
            <a:endParaRPr/>
          </a:p>
        </p:txBody>
      </p:sp>
      <p:sp>
        <p:nvSpPr>
          <p:cNvPr id="415" name="Google Shape;415;p48"/>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3. Target Audience</a:t>
            </a:r>
            <a:endParaRPr/>
          </a:p>
        </p:txBody>
      </p:sp>
      <p:sp>
        <p:nvSpPr>
          <p:cNvPr id="416" name="Google Shape;416;p48"/>
          <p:cNvSpPr txBox="1"/>
          <p:nvPr>
            <p:ph type="title"/>
          </p:nvPr>
        </p:nvSpPr>
        <p:spPr>
          <a:xfrm>
            <a:off x="277425" y="2056225"/>
            <a:ext cx="3541500" cy="2803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Agenda</a:t>
            </a:r>
            <a:endParaRPr/>
          </a:p>
        </p:txBody>
      </p:sp>
      <p:sp>
        <p:nvSpPr>
          <p:cNvPr id="417" name="Google Shape;417;p48"/>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Industrial</a:t>
            </a:r>
            <a:r>
              <a:rPr lang="en"/>
              <a:t> Project</a:t>
            </a:r>
            <a:endParaRPr/>
          </a:p>
        </p:txBody>
      </p:sp>
      <p:sp>
        <p:nvSpPr>
          <p:cNvPr id="418" name="Google Shape;418;p48"/>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Gagan Saini</a:t>
            </a:r>
            <a:endParaRPr/>
          </a:p>
        </p:txBody>
      </p:sp>
      <p:sp>
        <p:nvSpPr>
          <p:cNvPr id="419" name="Google Shape;419;p4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49" title="Screenshot (81).png"/>
          <p:cNvPicPr preferRelativeResize="0"/>
          <p:nvPr>
            <p:ph idx="2" type="pic"/>
          </p:nvPr>
        </p:nvPicPr>
        <p:blipFill rotWithShape="1">
          <a:blip r:embed="rId3">
            <a:alphaModFix/>
          </a:blip>
          <a:srcRect b="0" l="0" r="0" t="0"/>
          <a:stretch/>
        </p:blipFill>
        <p:spPr>
          <a:xfrm>
            <a:off x="0" y="0"/>
            <a:ext cx="9144005" cy="5143497"/>
          </a:xfrm>
          <a:prstGeom prst="rect">
            <a:avLst/>
          </a:prstGeom>
        </p:spPr>
      </p:pic>
      <p:sp>
        <p:nvSpPr>
          <p:cNvPr id="425" name="Google Shape;425;p4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2"/>
                </a:solidFill>
              </a:rPr>
              <a:t>Gagan Saini</a:t>
            </a:r>
            <a:endParaRPr>
              <a:solidFill>
                <a:schemeClr val="lt2"/>
              </a:solidFill>
            </a:endParaRPr>
          </a:p>
        </p:txBody>
      </p:sp>
      <p:sp>
        <p:nvSpPr>
          <p:cNvPr id="426" name="Google Shape;426;p49"/>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Industrial</a:t>
            </a:r>
            <a:r>
              <a:rPr lang="en">
                <a:solidFill>
                  <a:schemeClr val="lt2"/>
                </a:solidFill>
              </a:rPr>
              <a:t> Project</a:t>
            </a:r>
            <a:endParaRPr>
              <a:solidFill>
                <a:schemeClr val="lt2"/>
              </a:solidFill>
            </a:endParaRPr>
          </a:p>
        </p:txBody>
      </p:sp>
      <p:sp>
        <p:nvSpPr>
          <p:cNvPr id="427" name="Google Shape;427;p4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428" name="Google Shape;428;p49"/>
          <p:cNvPicPr preferRelativeResize="0"/>
          <p:nvPr/>
        </p:nvPicPr>
        <p:blipFill rotWithShape="1">
          <a:blip r:embed="rId4">
            <a:alphaModFix amt="50000"/>
          </a:blip>
          <a:srcRect b="15822" l="8374" r="54640" t="3370"/>
          <a:stretch/>
        </p:blipFill>
        <p:spPr>
          <a:xfrm>
            <a:off x="5655550" y="1107925"/>
            <a:ext cx="3211200" cy="3752100"/>
          </a:xfrm>
          <a:prstGeom prst="roundRect">
            <a:avLst>
              <a:gd fmla="val 9924" name="adj"/>
            </a:avLst>
          </a:prstGeom>
          <a:noFill/>
          <a:ln>
            <a:noFill/>
          </a:ln>
        </p:spPr>
      </p:pic>
      <p:cxnSp>
        <p:nvCxnSpPr>
          <p:cNvPr id="429" name="Google Shape;429;p49"/>
          <p:cNvCxnSpPr/>
          <p:nvPr/>
        </p:nvCxnSpPr>
        <p:spPr>
          <a:xfrm>
            <a:off x="3371550" y="3562200"/>
            <a:ext cx="2107200" cy="0"/>
          </a:xfrm>
          <a:prstGeom prst="straightConnector1">
            <a:avLst/>
          </a:prstGeom>
          <a:noFill/>
          <a:ln cap="flat" cmpd="sng" w="9525">
            <a:solidFill>
              <a:schemeClr val="lt2"/>
            </a:solidFill>
            <a:prstDash val="solid"/>
            <a:round/>
            <a:headEnd len="med" w="med" type="none"/>
            <a:tailEnd len="med" w="med" type="oval"/>
          </a:ln>
        </p:spPr>
      </p:cxnSp>
      <p:sp>
        <p:nvSpPr>
          <p:cNvPr id="430" name="Google Shape;430;p49"/>
          <p:cNvSpPr txBox="1"/>
          <p:nvPr/>
        </p:nvSpPr>
        <p:spPr>
          <a:xfrm>
            <a:off x="5877100" y="1555300"/>
            <a:ext cx="2768100" cy="29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a:solidFill>
                  <a:schemeClr val="lt2"/>
                </a:solidFill>
                <a:latin typeface="Arimo"/>
                <a:ea typeface="Arimo"/>
                <a:cs typeface="Arimo"/>
                <a:sym typeface="Arimo"/>
              </a:rPr>
              <a:t>Closet Fashion transforms the way people style, organize, and shop for clothes using AI-powered recommendations and virtual try-ons. </a:t>
            </a:r>
            <a:endParaRPr b="1">
              <a:solidFill>
                <a:schemeClr val="lt2"/>
              </a:solidFill>
              <a:latin typeface="Arimo"/>
              <a:ea typeface="Arimo"/>
              <a:cs typeface="Arimo"/>
              <a:sym typeface="Arimo"/>
            </a:endParaRPr>
          </a:p>
          <a:p>
            <a:pPr indent="0" lvl="0" marL="0" rtl="0" algn="l">
              <a:spcBef>
                <a:spcPts val="0"/>
              </a:spcBef>
              <a:spcAft>
                <a:spcPts val="0"/>
              </a:spcAft>
              <a:buClr>
                <a:schemeClr val="lt1"/>
              </a:buClr>
              <a:buSzPts val="1100"/>
              <a:buFont typeface="Arial"/>
              <a:buNone/>
            </a:pPr>
            <a:r>
              <a:t/>
            </a:r>
            <a:endParaRPr>
              <a:solidFill>
                <a:schemeClr val="lt2"/>
              </a:solidFill>
              <a:latin typeface="Arimo"/>
              <a:ea typeface="Arimo"/>
              <a:cs typeface="Arimo"/>
              <a:sym typeface="Arimo"/>
            </a:endParaRPr>
          </a:p>
          <a:p>
            <a:pPr indent="0" lvl="0" marL="0" rtl="0" algn="l">
              <a:spcBef>
                <a:spcPts val="0"/>
              </a:spcBef>
              <a:spcAft>
                <a:spcPts val="0"/>
              </a:spcAft>
              <a:buClr>
                <a:schemeClr val="lt1"/>
              </a:buClr>
              <a:buSzPts val="1100"/>
              <a:buFont typeface="Arial"/>
              <a:buNone/>
            </a:pPr>
            <a:r>
              <a:rPr b="1" lang="en">
                <a:solidFill>
                  <a:schemeClr val="lt2"/>
                </a:solidFill>
                <a:latin typeface="Arimo"/>
                <a:ea typeface="Arimo"/>
                <a:cs typeface="Arimo"/>
                <a:sym typeface="Arimo"/>
              </a:rPr>
              <a:t>It delivers a smarter, more personalized fashion experience—helping users look confident, save time, and discover outfits tailored perfectly to their style </a:t>
            </a:r>
            <a:endParaRPr b="1">
              <a:solidFill>
                <a:schemeClr val="lt2"/>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50"/>
          <p:cNvPicPr preferRelativeResize="0"/>
          <p:nvPr/>
        </p:nvPicPr>
        <p:blipFill rotWithShape="1">
          <a:blip r:embed="rId3">
            <a:alphaModFix amt="10000"/>
          </a:blip>
          <a:srcRect b="19825" l="1070" r="80231" t="14705"/>
          <a:stretch/>
        </p:blipFill>
        <p:spPr>
          <a:xfrm>
            <a:off x="280800" y="1743975"/>
            <a:ext cx="1623600" cy="3039900"/>
          </a:xfrm>
          <a:prstGeom prst="roundRect">
            <a:avLst>
              <a:gd fmla="val 9898" name="adj"/>
            </a:avLst>
          </a:prstGeom>
          <a:noFill/>
          <a:ln>
            <a:noFill/>
          </a:ln>
        </p:spPr>
      </p:pic>
      <p:pic>
        <p:nvPicPr>
          <p:cNvPr id="436" name="Google Shape;436;p50"/>
          <p:cNvPicPr preferRelativeResize="0"/>
          <p:nvPr/>
        </p:nvPicPr>
        <p:blipFill rotWithShape="1">
          <a:blip r:embed="rId3">
            <a:alphaModFix amt="10000"/>
          </a:blip>
          <a:srcRect b="19825" l="1070" r="80231" t="14705"/>
          <a:stretch/>
        </p:blipFill>
        <p:spPr>
          <a:xfrm>
            <a:off x="2018600" y="1743975"/>
            <a:ext cx="1623600" cy="3039900"/>
          </a:xfrm>
          <a:prstGeom prst="roundRect">
            <a:avLst>
              <a:gd fmla="val 9898" name="adj"/>
            </a:avLst>
          </a:prstGeom>
          <a:noFill/>
          <a:ln>
            <a:noFill/>
          </a:ln>
        </p:spPr>
      </p:pic>
      <p:pic>
        <p:nvPicPr>
          <p:cNvPr id="437" name="Google Shape;437;p50"/>
          <p:cNvPicPr preferRelativeResize="0"/>
          <p:nvPr/>
        </p:nvPicPr>
        <p:blipFill rotWithShape="1">
          <a:blip r:embed="rId3">
            <a:alphaModFix amt="10000"/>
          </a:blip>
          <a:srcRect b="19825" l="1070" r="80231" t="14705"/>
          <a:stretch/>
        </p:blipFill>
        <p:spPr>
          <a:xfrm>
            <a:off x="3756400" y="1743975"/>
            <a:ext cx="1623600" cy="3039900"/>
          </a:xfrm>
          <a:prstGeom prst="roundRect">
            <a:avLst>
              <a:gd fmla="val 9898" name="adj"/>
            </a:avLst>
          </a:prstGeom>
          <a:noFill/>
          <a:ln>
            <a:noFill/>
          </a:ln>
        </p:spPr>
      </p:pic>
      <p:pic>
        <p:nvPicPr>
          <p:cNvPr id="438" name="Google Shape;438;p50"/>
          <p:cNvPicPr preferRelativeResize="0"/>
          <p:nvPr/>
        </p:nvPicPr>
        <p:blipFill rotWithShape="1">
          <a:blip r:embed="rId3">
            <a:alphaModFix amt="10000"/>
          </a:blip>
          <a:srcRect b="19825" l="1070" r="80231" t="14705"/>
          <a:stretch/>
        </p:blipFill>
        <p:spPr>
          <a:xfrm>
            <a:off x="5494200" y="1743975"/>
            <a:ext cx="1623600" cy="3039900"/>
          </a:xfrm>
          <a:prstGeom prst="roundRect">
            <a:avLst>
              <a:gd fmla="val 9898" name="adj"/>
            </a:avLst>
          </a:prstGeom>
          <a:noFill/>
          <a:ln>
            <a:noFill/>
          </a:ln>
        </p:spPr>
      </p:pic>
      <p:pic>
        <p:nvPicPr>
          <p:cNvPr id="439" name="Google Shape;439;p50"/>
          <p:cNvPicPr preferRelativeResize="0"/>
          <p:nvPr/>
        </p:nvPicPr>
        <p:blipFill rotWithShape="1">
          <a:blip r:embed="rId3">
            <a:alphaModFix amt="10000"/>
          </a:blip>
          <a:srcRect b="19825" l="1070" r="80231" t="14705"/>
          <a:stretch/>
        </p:blipFill>
        <p:spPr>
          <a:xfrm>
            <a:off x="7232000" y="1743975"/>
            <a:ext cx="1623600" cy="3039900"/>
          </a:xfrm>
          <a:prstGeom prst="roundRect">
            <a:avLst>
              <a:gd fmla="val 9898" name="adj"/>
            </a:avLst>
          </a:prstGeom>
          <a:noFill/>
          <a:ln>
            <a:noFill/>
          </a:ln>
        </p:spPr>
      </p:pic>
      <p:sp>
        <p:nvSpPr>
          <p:cNvPr id="440" name="Google Shape;440;p50"/>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1" name="Google Shape;441;p50"/>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442" name="Google Shape;442;p50"/>
          <p:cNvGrpSpPr/>
          <p:nvPr/>
        </p:nvGrpSpPr>
        <p:grpSpPr>
          <a:xfrm>
            <a:off x="2196150" y="1919375"/>
            <a:ext cx="514500" cy="514500"/>
            <a:chOff x="2196150" y="1919375"/>
            <a:chExt cx="514500" cy="514500"/>
          </a:xfrm>
        </p:grpSpPr>
        <p:sp>
          <p:nvSpPr>
            <p:cNvPr id="443" name="Google Shape;443;p50"/>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44" name="Google Shape;444;p50"/>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445" name="Google Shape;445;p50"/>
          <p:cNvGrpSpPr/>
          <p:nvPr/>
        </p:nvGrpSpPr>
        <p:grpSpPr>
          <a:xfrm>
            <a:off x="3936800" y="1919375"/>
            <a:ext cx="514500" cy="514500"/>
            <a:chOff x="3936800" y="1919375"/>
            <a:chExt cx="514500" cy="514500"/>
          </a:xfrm>
        </p:grpSpPr>
        <p:sp>
          <p:nvSpPr>
            <p:cNvPr id="446" name="Google Shape;446;p50"/>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7" name="Google Shape;447;p50"/>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grpSp>
        <p:nvGrpSpPr>
          <p:cNvPr id="448" name="Google Shape;448;p50"/>
          <p:cNvGrpSpPr/>
          <p:nvPr/>
        </p:nvGrpSpPr>
        <p:grpSpPr>
          <a:xfrm>
            <a:off x="5677450" y="1919375"/>
            <a:ext cx="514500" cy="514500"/>
            <a:chOff x="5677450" y="1919375"/>
            <a:chExt cx="514500" cy="514500"/>
          </a:xfrm>
        </p:grpSpPr>
        <p:sp>
          <p:nvSpPr>
            <p:cNvPr id="449" name="Google Shape;449;p50"/>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50" name="Google Shape;450;p50"/>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grpSp>
      <p:grpSp>
        <p:nvGrpSpPr>
          <p:cNvPr id="451" name="Google Shape;451;p50"/>
          <p:cNvGrpSpPr/>
          <p:nvPr/>
        </p:nvGrpSpPr>
        <p:grpSpPr>
          <a:xfrm>
            <a:off x="7418100" y="1919375"/>
            <a:ext cx="514500" cy="514500"/>
            <a:chOff x="7418100" y="1919375"/>
            <a:chExt cx="514500" cy="514500"/>
          </a:xfrm>
        </p:grpSpPr>
        <p:sp>
          <p:nvSpPr>
            <p:cNvPr id="452" name="Google Shape;452;p50"/>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53" name="Google Shape;453;p50"/>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5</a:t>
              </a:r>
              <a:endParaRPr sz="1800">
                <a:solidFill>
                  <a:schemeClr val="dk1"/>
                </a:solidFill>
                <a:latin typeface="Arimo"/>
                <a:ea typeface="Arimo"/>
                <a:cs typeface="Arimo"/>
                <a:sym typeface="Arimo"/>
              </a:endParaRPr>
            </a:p>
          </p:txBody>
        </p:sp>
      </p:grpSp>
      <p:sp>
        <p:nvSpPr>
          <p:cNvPr id="454" name="Google Shape;454;p5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Key capabilities</a:t>
            </a:r>
            <a:endParaRPr/>
          </a:p>
        </p:txBody>
      </p:sp>
      <p:sp>
        <p:nvSpPr>
          <p:cNvPr id="455" name="Google Shape;455;p50"/>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Home Page</a:t>
            </a:r>
            <a:endParaRPr/>
          </a:p>
        </p:txBody>
      </p:sp>
      <p:sp>
        <p:nvSpPr>
          <p:cNvPr id="456" name="Google Shape;456;p50"/>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Product Page</a:t>
            </a:r>
            <a:endParaRPr/>
          </a:p>
        </p:txBody>
      </p:sp>
      <p:sp>
        <p:nvSpPr>
          <p:cNvPr id="457" name="Google Shape;457;p50"/>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Cart Page</a:t>
            </a:r>
            <a:endParaRPr/>
          </a:p>
        </p:txBody>
      </p:sp>
      <p:sp>
        <p:nvSpPr>
          <p:cNvPr id="458" name="Google Shape;458;p50"/>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sz="1300"/>
              <a:t>Upload Product</a:t>
            </a:r>
            <a:endParaRPr sz="1300"/>
          </a:p>
        </p:txBody>
      </p:sp>
      <p:sp>
        <p:nvSpPr>
          <p:cNvPr id="459" name="Google Shape;459;p50"/>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Admin Panel</a:t>
            </a:r>
            <a:endParaRPr/>
          </a:p>
        </p:txBody>
      </p:sp>
      <p:sp>
        <p:nvSpPr>
          <p:cNvPr id="460" name="Google Shape;460;p50"/>
          <p:cNvSpPr txBox="1"/>
          <p:nvPr>
            <p:ph idx="6" type="body"/>
          </p:nvPr>
        </p:nvSpPr>
        <p:spPr>
          <a:xfrm>
            <a:off x="421311" y="3433000"/>
            <a:ext cx="133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Explores the products, filter them based brand, price, size, color, materials.</a:t>
            </a:r>
            <a:endParaRPr/>
          </a:p>
        </p:txBody>
      </p:sp>
      <p:sp>
        <p:nvSpPr>
          <p:cNvPr id="461" name="Google Shape;461;p50"/>
          <p:cNvSpPr txBox="1"/>
          <p:nvPr>
            <p:ph idx="7" type="body"/>
          </p:nvPr>
        </p:nvSpPr>
        <p:spPr>
          <a:xfrm>
            <a:off x="2167325"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Product page shows details pf a product, including name, </a:t>
            </a:r>
            <a:r>
              <a:rPr lang="en"/>
              <a:t>description</a:t>
            </a:r>
            <a:r>
              <a:rPr lang="en"/>
              <a:t>, brand, sizes available, action buttons.</a:t>
            </a:r>
            <a:endParaRPr/>
          </a:p>
        </p:txBody>
      </p:sp>
      <p:sp>
        <p:nvSpPr>
          <p:cNvPr id="462" name="Google Shape;462;p50"/>
          <p:cNvSpPr txBox="1"/>
          <p:nvPr>
            <p:ph idx="8" type="body"/>
          </p:nvPr>
        </p:nvSpPr>
        <p:spPr>
          <a:xfrm>
            <a:off x="3903300" y="3433000"/>
            <a:ext cx="133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It shows the list of products you added in your cart, along with total cart summary.</a:t>
            </a:r>
            <a:endParaRPr/>
          </a:p>
        </p:txBody>
      </p:sp>
      <p:sp>
        <p:nvSpPr>
          <p:cNvPr id="463" name="Google Shape;463;p50"/>
          <p:cNvSpPr txBox="1"/>
          <p:nvPr>
            <p:ph idx="9" type="body"/>
          </p:nvPr>
        </p:nvSpPr>
        <p:spPr>
          <a:xfrm>
            <a:off x="5648625"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Become seller and upload your own custom product for selling them on this platform.</a:t>
            </a:r>
            <a:endParaRPr/>
          </a:p>
        </p:txBody>
      </p:sp>
      <p:sp>
        <p:nvSpPr>
          <p:cNvPr id="464" name="Google Shape;464;p50"/>
          <p:cNvSpPr txBox="1"/>
          <p:nvPr>
            <p:ph idx="13" type="body"/>
          </p:nvPr>
        </p:nvSpPr>
        <p:spPr>
          <a:xfrm>
            <a:off x="7385291"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a:t>Seller has to maintain stock, track order status, this is where they can do all of admin tasks.</a:t>
            </a:r>
            <a:endParaRPr/>
          </a:p>
        </p:txBody>
      </p:sp>
      <p:sp>
        <p:nvSpPr>
          <p:cNvPr id="465" name="Google Shape;465;p50"/>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Gagan Saini</a:t>
            </a:r>
            <a:endParaRPr/>
          </a:p>
        </p:txBody>
      </p:sp>
      <p:sp>
        <p:nvSpPr>
          <p:cNvPr id="466" name="Google Shape;466;p50"/>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Industrial Project</a:t>
            </a:r>
            <a:endParaRPr/>
          </a:p>
        </p:txBody>
      </p:sp>
      <p:sp>
        <p:nvSpPr>
          <p:cNvPr id="467" name="Google Shape;467;p50"/>
          <p:cNvSpPr txBox="1"/>
          <p:nvPr>
            <p:ph idx="12" type="sldNum"/>
          </p:nvPr>
        </p:nvSpPr>
        <p:spPr>
          <a:xfrm>
            <a:off x="8219472"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1"/>
          <p:cNvSpPr/>
          <p:nvPr/>
        </p:nvSpPr>
        <p:spPr>
          <a:xfrm>
            <a:off x="4549825" y="738900"/>
            <a:ext cx="2820600" cy="36657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pic>
        <p:nvPicPr>
          <p:cNvPr descr="A close-up of the padded cup of a pair of headphones. " id="473" name="Google Shape;473;p51"/>
          <p:cNvPicPr preferRelativeResize="0"/>
          <p:nvPr>
            <p:ph idx="2" type="pic"/>
          </p:nvPr>
        </p:nvPicPr>
        <p:blipFill rotWithShape="1">
          <a:blip r:embed="rId3">
            <a:alphaModFix/>
          </a:blip>
          <a:srcRect b="0" l="13726" r="50047" t="29528"/>
          <a:stretch/>
        </p:blipFill>
        <p:spPr>
          <a:xfrm>
            <a:off x="7480825" y="734600"/>
            <a:ext cx="1383900" cy="1660200"/>
          </a:xfrm>
          <a:prstGeom prst="roundRect">
            <a:avLst>
              <a:gd fmla="val 16667" name="adj"/>
            </a:avLst>
          </a:prstGeom>
        </p:spPr>
      </p:pic>
      <p:pic>
        <p:nvPicPr>
          <p:cNvPr descr="A close-up of a headphone cup being placed over the wearer's ear. " id="474" name="Google Shape;474;p51"/>
          <p:cNvPicPr preferRelativeResize="0"/>
          <p:nvPr>
            <p:ph idx="3" type="pic"/>
          </p:nvPr>
        </p:nvPicPr>
        <p:blipFill rotWithShape="1">
          <a:blip r:embed="rId4">
            <a:alphaModFix/>
          </a:blip>
          <a:srcRect b="31557" l="44964" r="30245" t="17935"/>
          <a:stretch/>
        </p:blipFill>
        <p:spPr>
          <a:xfrm>
            <a:off x="7480825" y="2521175"/>
            <a:ext cx="1383900" cy="1879200"/>
          </a:xfrm>
          <a:prstGeom prst="roundRect">
            <a:avLst>
              <a:gd fmla="val 16667" name="adj"/>
            </a:avLst>
          </a:prstGeom>
        </p:spPr>
      </p:pic>
      <p:pic>
        <p:nvPicPr>
          <p:cNvPr descr="A man talks into a microphone while wearing headphones. " id="475" name="Google Shape;475;p51"/>
          <p:cNvPicPr preferRelativeResize="0"/>
          <p:nvPr>
            <p:ph idx="4" type="pic"/>
          </p:nvPr>
        </p:nvPicPr>
        <p:blipFill rotWithShape="1">
          <a:blip r:embed="rId5">
            <a:alphaModFix/>
          </a:blip>
          <a:srcRect b="11579" l="44763" r="16615" t="11587"/>
          <a:stretch/>
        </p:blipFill>
        <p:spPr>
          <a:xfrm>
            <a:off x="4665550" y="850900"/>
            <a:ext cx="2589300" cy="3433200"/>
          </a:xfrm>
          <a:prstGeom prst="roundRect">
            <a:avLst>
              <a:gd fmla="val 16667" name="adj"/>
            </a:avLst>
          </a:prstGeom>
        </p:spPr>
      </p:pic>
      <p:sp>
        <p:nvSpPr>
          <p:cNvPr id="476" name="Google Shape;476;p5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1</a:t>
            </a:r>
            <a:endParaRPr/>
          </a:p>
        </p:txBody>
      </p:sp>
      <p:sp>
        <p:nvSpPr>
          <p:cNvPr id="477" name="Google Shape;477;p5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cxnSp>
        <p:nvCxnSpPr>
          <p:cNvPr id="478" name="Google Shape;478;p51"/>
          <p:cNvCxnSpPr/>
          <p:nvPr/>
        </p:nvCxnSpPr>
        <p:spPr>
          <a:xfrm rot="10800000">
            <a:off x="2248525" y="3261575"/>
            <a:ext cx="2301300" cy="0"/>
          </a:xfrm>
          <a:prstGeom prst="straightConnector1">
            <a:avLst/>
          </a:prstGeom>
          <a:noFill/>
          <a:ln cap="flat" cmpd="sng" w="9525">
            <a:solidFill>
              <a:schemeClr val="dk1"/>
            </a:solidFill>
            <a:prstDash val="solid"/>
            <a:round/>
            <a:headEnd len="med" w="med" type="none"/>
            <a:tailEnd len="med" w="med" type="oval"/>
          </a:ln>
        </p:spPr>
      </p:cxnSp>
      <p:sp>
        <p:nvSpPr>
          <p:cNvPr id="479" name="Google Shape;479;p5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Gagan Saini</a:t>
            </a:r>
            <a:endParaRPr/>
          </a:p>
        </p:txBody>
      </p:sp>
      <p:sp>
        <p:nvSpPr>
          <p:cNvPr id="480" name="Google Shape;480;p5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Industrial</a:t>
            </a:r>
            <a:r>
              <a:rPr lang="en"/>
              <a:t> Project</a:t>
            </a:r>
            <a:endParaRPr/>
          </a:p>
        </p:txBody>
      </p:sp>
      <p:sp>
        <p:nvSpPr>
          <p:cNvPr id="481" name="Google Shape;481;p5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482" name="Google Shape;482;p51" title="ChatGPT Image May 16, 2026, 08_26_44 AM.png"/>
          <p:cNvPicPr preferRelativeResize="0"/>
          <p:nvPr/>
        </p:nvPicPr>
        <p:blipFill>
          <a:blip r:embed="rId6">
            <a:alphaModFix/>
          </a:blip>
          <a:stretch>
            <a:fillRect/>
          </a:stretch>
        </p:blipFill>
        <p:spPr>
          <a:xfrm>
            <a:off x="152400" y="568650"/>
            <a:ext cx="8714151" cy="4181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2"/>
          <p:cNvSpPr/>
          <p:nvPr/>
        </p:nvSpPr>
        <p:spPr>
          <a:xfrm>
            <a:off x="277500" y="277500"/>
            <a:ext cx="4536300" cy="4582500"/>
          </a:xfrm>
          <a:prstGeom prst="roundRect">
            <a:avLst>
              <a:gd fmla="val 131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88" name="Google Shape;488;p52"/>
          <p:cNvSpPr txBox="1"/>
          <p:nvPr>
            <p:ph type="title"/>
          </p:nvPr>
        </p:nvSpPr>
        <p:spPr>
          <a:xfrm>
            <a:off x="5321925" y="506100"/>
            <a:ext cx="3544500" cy="579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Feature 2</a:t>
            </a:r>
            <a:endParaRPr/>
          </a:p>
        </p:txBody>
      </p:sp>
      <p:sp>
        <p:nvSpPr>
          <p:cNvPr id="489" name="Google Shape;489;p52"/>
          <p:cNvSpPr/>
          <p:nvPr/>
        </p:nvSpPr>
        <p:spPr>
          <a:xfrm>
            <a:off x="5595650" y="980125"/>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90" name="Google Shape;490;p52"/>
          <p:cNvSpPr txBox="1"/>
          <p:nvPr/>
        </p:nvSpPr>
        <p:spPr>
          <a:xfrm>
            <a:off x="5784230" y="1141075"/>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Detail 1</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sp>
        <p:nvSpPr>
          <p:cNvPr id="491" name="Google Shape;491;p52"/>
          <p:cNvSpPr/>
          <p:nvPr/>
        </p:nvSpPr>
        <p:spPr>
          <a:xfrm>
            <a:off x="6324412" y="2236057"/>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92" name="Google Shape;492;p52"/>
          <p:cNvSpPr txBox="1"/>
          <p:nvPr/>
        </p:nvSpPr>
        <p:spPr>
          <a:xfrm>
            <a:off x="6512992" y="2397007"/>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Clr>
                <a:schemeClr val="lt1"/>
              </a:buClr>
              <a:buSzPts val="1100"/>
              <a:buNone/>
            </a:pPr>
            <a:r>
              <a:rPr lang="en" sz="1100">
                <a:solidFill>
                  <a:schemeClr val="dk1"/>
                </a:solidFill>
                <a:latin typeface="Arimo"/>
                <a:ea typeface="Arimo"/>
                <a:cs typeface="Arimo"/>
                <a:sym typeface="Arimo"/>
              </a:rPr>
              <a:t>Detail 2</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sp>
        <p:nvSpPr>
          <p:cNvPr id="493" name="Google Shape;493;p52"/>
          <p:cNvSpPr/>
          <p:nvPr/>
        </p:nvSpPr>
        <p:spPr>
          <a:xfrm>
            <a:off x="5595650" y="3491975"/>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94" name="Google Shape;494;p52"/>
          <p:cNvSpPr txBox="1"/>
          <p:nvPr/>
        </p:nvSpPr>
        <p:spPr>
          <a:xfrm>
            <a:off x="5784230" y="3652925"/>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Detail 3</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pic>
        <p:nvPicPr>
          <p:cNvPr descr="A product shot of black and silver headphones. " id="495" name="Google Shape;495;p52"/>
          <p:cNvPicPr preferRelativeResize="0"/>
          <p:nvPr>
            <p:ph idx="2" type="pic"/>
          </p:nvPr>
        </p:nvPicPr>
        <p:blipFill rotWithShape="1">
          <a:blip r:embed="rId3">
            <a:alphaModFix/>
          </a:blip>
          <a:srcRect b="-271" l="16928" r="16921" t="0"/>
          <a:stretch/>
        </p:blipFill>
        <p:spPr>
          <a:xfrm>
            <a:off x="396900" y="396300"/>
            <a:ext cx="4297500" cy="4344900"/>
          </a:xfrm>
          <a:prstGeom prst="roundRect">
            <a:avLst>
              <a:gd fmla="val 16667" name="adj"/>
            </a:avLst>
          </a:prstGeom>
        </p:spPr>
      </p:pic>
      <p:cxnSp>
        <p:nvCxnSpPr>
          <p:cNvPr id="496" name="Google Shape;496;p52"/>
          <p:cNvCxnSpPr/>
          <p:nvPr/>
        </p:nvCxnSpPr>
        <p:spPr>
          <a:xfrm>
            <a:off x="2357450" y="1427275"/>
            <a:ext cx="3145800" cy="0"/>
          </a:xfrm>
          <a:prstGeom prst="straightConnector1">
            <a:avLst/>
          </a:prstGeom>
          <a:noFill/>
          <a:ln cap="flat" cmpd="sng" w="9525">
            <a:solidFill>
              <a:schemeClr val="dk1"/>
            </a:solidFill>
            <a:prstDash val="solid"/>
            <a:round/>
            <a:headEnd len="med" w="med" type="none"/>
            <a:tailEnd len="med" w="med" type="oval"/>
          </a:ln>
        </p:spPr>
      </p:cxnSp>
      <p:cxnSp>
        <p:nvCxnSpPr>
          <p:cNvPr id="497" name="Google Shape;497;p52"/>
          <p:cNvCxnSpPr/>
          <p:nvPr/>
        </p:nvCxnSpPr>
        <p:spPr>
          <a:xfrm>
            <a:off x="4071950" y="2628350"/>
            <a:ext cx="2160000" cy="0"/>
          </a:xfrm>
          <a:prstGeom prst="straightConnector1">
            <a:avLst/>
          </a:prstGeom>
          <a:noFill/>
          <a:ln cap="flat" cmpd="sng" w="9525">
            <a:solidFill>
              <a:schemeClr val="dk1"/>
            </a:solidFill>
            <a:prstDash val="solid"/>
            <a:round/>
            <a:headEnd len="med" w="med" type="none"/>
            <a:tailEnd len="med" w="med" type="oval"/>
          </a:ln>
        </p:spPr>
      </p:cxnSp>
      <p:cxnSp>
        <p:nvCxnSpPr>
          <p:cNvPr id="498" name="Google Shape;498;p52"/>
          <p:cNvCxnSpPr/>
          <p:nvPr/>
        </p:nvCxnSpPr>
        <p:spPr>
          <a:xfrm>
            <a:off x="3524900" y="3916375"/>
            <a:ext cx="1959300" cy="0"/>
          </a:xfrm>
          <a:prstGeom prst="straightConnector1">
            <a:avLst/>
          </a:prstGeom>
          <a:noFill/>
          <a:ln cap="flat" cmpd="sng" w="9525">
            <a:solidFill>
              <a:schemeClr val="dk1"/>
            </a:solidFill>
            <a:prstDash val="solid"/>
            <a:round/>
            <a:headEnd len="med" w="med" type="none"/>
            <a:tailEnd len="med" w="med" type="oval"/>
          </a:ln>
        </p:spPr>
      </p:cxnSp>
      <p:sp>
        <p:nvSpPr>
          <p:cNvPr id="499" name="Google Shape;499;p5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Industrial</a:t>
            </a:r>
            <a:r>
              <a:rPr lang="en"/>
              <a:t> Project</a:t>
            </a:r>
            <a:endParaRPr/>
          </a:p>
        </p:txBody>
      </p:sp>
      <p:sp>
        <p:nvSpPr>
          <p:cNvPr id="500" name="Google Shape;500;p5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01" name="Google Shape;501;p52"/>
          <p:cNvPicPr preferRelativeResize="0"/>
          <p:nvPr/>
        </p:nvPicPr>
        <p:blipFill>
          <a:blip r:embed="rId4">
            <a:alphaModFix/>
          </a:blip>
          <a:stretch>
            <a:fillRect/>
          </a:stretch>
        </p:blipFill>
        <p:spPr>
          <a:xfrm>
            <a:off x="-2425" y="225400"/>
            <a:ext cx="9144001" cy="4716499"/>
          </a:xfrm>
          <a:prstGeom prst="rect">
            <a:avLst/>
          </a:prstGeom>
          <a:noFill/>
          <a:ln>
            <a:noFill/>
          </a:ln>
        </p:spPr>
      </p:pic>
      <p:sp>
        <p:nvSpPr>
          <p:cNvPr id="502" name="Google Shape;502;p52"/>
          <p:cNvSpPr txBox="1"/>
          <p:nvPr>
            <p:ph idx="12" type="sldNum"/>
          </p:nvPr>
        </p:nvSpPr>
        <p:spPr>
          <a:xfrm>
            <a:off x="8408998" y="483735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3"/>
          <p:cNvSpPr/>
          <p:nvPr/>
        </p:nvSpPr>
        <p:spPr>
          <a:xfrm>
            <a:off x="277500" y="277500"/>
            <a:ext cx="5145000" cy="4582500"/>
          </a:xfrm>
          <a:prstGeom prst="roundRect">
            <a:avLst>
              <a:gd fmla="val 130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08" name="Google Shape;508;p53"/>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3</a:t>
            </a:r>
            <a:endParaRPr/>
          </a:p>
        </p:txBody>
      </p:sp>
      <p:sp>
        <p:nvSpPr>
          <p:cNvPr id="509" name="Google Shape;509;p53"/>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cxnSp>
        <p:nvCxnSpPr>
          <p:cNvPr id="510" name="Google Shape;510;p53"/>
          <p:cNvCxnSpPr/>
          <p:nvPr/>
        </p:nvCxnSpPr>
        <p:spPr>
          <a:xfrm>
            <a:off x="5422500" y="3216700"/>
            <a:ext cx="441600" cy="0"/>
          </a:xfrm>
          <a:prstGeom prst="straightConnector1">
            <a:avLst/>
          </a:prstGeom>
          <a:noFill/>
          <a:ln cap="flat" cmpd="sng" w="9525">
            <a:solidFill>
              <a:schemeClr val="dk1"/>
            </a:solidFill>
            <a:prstDash val="solid"/>
            <a:round/>
            <a:headEnd len="med" w="med" type="none"/>
            <a:tailEnd len="med" w="med" type="oval"/>
          </a:ln>
        </p:spPr>
      </p:cxnSp>
      <p:pic>
        <p:nvPicPr>
          <p:cNvPr descr="A woman listens to music on her headphones while holding the cups close to her ears. " id="511" name="Google Shape;511;p53"/>
          <p:cNvPicPr preferRelativeResize="0"/>
          <p:nvPr>
            <p:ph idx="2" type="pic"/>
          </p:nvPr>
        </p:nvPicPr>
        <p:blipFill rotWithShape="1">
          <a:blip r:embed="rId3">
            <a:alphaModFix/>
          </a:blip>
          <a:srcRect b="5777" l="0" r="0" t="28799"/>
          <a:stretch/>
        </p:blipFill>
        <p:spPr>
          <a:xfrm>
            <a:off x="392100" y="402150"/>
            <a:ext cx="4915800" cy="4333200"/>
          </a:xfrm>
          <a:prstGeom prst="roundRect">
            <a:avLst>
              <a:gd fmla="val 12206" name="adj"/>
            </a:avLst>
          </a:prstGeom>
        </p:spPr>
      </p:pic>
      <p:sp>
        <p:nvSpPr>
          <p:cNvPr id="512" name="Google Shape;512;p5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13" name="Google Shape;513;p53"/>
          <p:cNvPicPr preferRelativeResize="0"/>
          <p:nvPr/>
        </p:nvPicPr>
        <p:blipFill>
          <a:blip r:embed="rId4">
            <a:alphaModFix/>
          </a:blip>
          <a:stretch>
            <a:fillRect/>
          </a:stretch>
        </p:blipFill>
        <p:spPr>
          <a:xfrm>
            <a:off x="188000" y="174000"/>
            <a:ext cx="8566450" cy="4767901"/>
          </a:xfrm>
          <a:prstGeom prst="rect">
            <a:avLst/>
          </a:prstGeom>
          <a:noFill/>
          <a:ln>
            <a:noFill/>
          </a:ln>
        </p:spPr>
      </p:pic>
      <p:sp>
        <p:nvSpPr>
          <p:cNvPr id="514" name="Google Shape;514;p53"/>
          <p:cNvSpPr/>
          <p:nvPr/>
        </p:nvSpPr>
        <p:spPr>
          <a:xfrm>
            <a:off x="8711625" y="3384300"/>
            <a:ext cx="246300" cy="11451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descr="A woman looks at the camera and sits on a sofa chair while listening to music on her headphones. " id="519" name="Google Shape;519;p54"/>
          <p:cNvPicPr preferRelativeResize="0"/>
          <p:nvPr>
            <p:ph idx="2" type="pic"/>
          </p:nvPr>
        </p:nvPicPr>
        <p:blipFill rotWithShape="1">
          <a:blip r:embed="rId3">
            <a:alphaModFix/>
          </a:blip>
          <a:srcRect b="14987" l="18910" r="0" t="4310"/>
          <a:stretch/>
        </p:blipFill>
        <p:spPr>
          <a:xfrm>
            <a:off x="6220309" y="696000"/>
            <a:ext cx="2532900" cy="3358800"/>
          </a:xfrm>
          <a:prstGeom prst="roundRect">
            <a:avLst>
              <a:gd fmla="val 16667" name="adj"/>
            </a:avLst>
          </a:prstGeom>
        </p:spPr>
      </p:pic>
      <p:sp>
        <p:nvSpPr>
          <p:cNvPr id="520" name="Google Shape;520;p5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4</a:t>
            </a:r>
            <a:endParaRPr/>
          </a:p>
        </p:txBody>
      </p:sp>
      <p:sp>
        <p:nvSpPr>
          <p:cNvPr id="521" name="Google Shape;521;p5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sp>
        <p:nvSpPr>
          <p:cNvPr id="522" name="Google Shape;522;p54"/>
          <p:cNvSpPr/>
          <p:nvPr/>
        </p:nvSpPr>
        <p:spPr>
          <a:xfrm>
            <a:off x="4634875" y="582300"/>
            <a:ext cx="1350600" cy="1380300"/>
          </a:xfrm>
          <a:prstGeom prst="roundRect">
            <a:avLst>
              <a:gd fmla="val 17296"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523" name="Google Shape;523;p54"/>
          <p:cNvSpPr/>
          <p:nvPr/>
        </p:nvSpPr>
        <p:spPr>
          <a:xfrm rot="-5400000">
            <a:off x="4923500" y="778750"/>
            <a:ext cx="566700" cy="8856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524" name="Google Shape;524;p54"/>
          <p:cNvSpPr/>
          <p:nvPr/>
        </p:nvSpPr>
        <p:spPr>
          <a:xfrm>
            <a:off x="4634875" y="2102100"/>
            <a:ext cx="1350600" cy="20664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nvGrpSpPr>
          <p:cNvPr id="525" name="Google Shape;525;p54"/>
          <p:cNvGrpSpPr/>
          <p:nvPr/>
        </p:nvGrpSpPr>
        <p:grpSpPr>
          <a:xfrm>
            <a:off x="4634875" y="2331300"/>
            <a:ext cx="1350600" cy="475800"/>
            <a:chOff x="4634875" y="2331300"/>
            <a:chExt cx="1350600" cy="475800"/>
          </a:xfrm>
        </p:grpSpPr>
        <p:sp>
          <p:nvSpPr>
            <p:cNvPr id="526" name="Google Shape;526;p54"/>
            <p:cNvSpPr txBox="1"/>
            <p:nvPr/>
          </p:nvSpPr>
          <p:spPr>
            <a:xfrm>
              <a:off x="4634875" y="2613600"/>
              <a:ext cx="1350600" cy="1935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527" name="Google Shape;527;p54"/>
            <p:cNvSpPr txBox="1"/>
            <p:nvPr/>
          </p:nvSpPr>
          <p:spPr>
            <a:xfrm>
              <a:off x="4634875" y="2331300"/>
              <a:ext cx="1350600" cy="259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cxnSp>
        <p:nvCxnSpPr>
          <p:cNvPr id="528" name="Google Shape;528;p54"/>
          <p:cNvCxnSpPr/>
          <p:nvPr/>
        </p:nvCxnSpPr>
        <p:spPr>
          <a:xfrm>
            <a:off x="4634875" y="2952075"/>
            <a:ext cx="1350600" cy="0"/>
          </a:xfrm>
          <a:prstGeom prst="straightConnector1">
            <a:avLst/>
          </a:prstGeom>
          <a:noFill/>
          <a:ln cap="flat" cmpd="sng" w="9525">
            <a:solidFill>
              <a:schemeClr val="accent2"/>
            </a:solidFill>
            <a:prstDash val="solid"/>
            <a:round/>
            <a:headEnd len="med" w="med" type="none"/>
            <a:tailEnd len="med" w="med" type="none"/>
          </a:ln>
        </p:spPr>
      </p:cxnSp>
      <p:grpSp>
        <p:nvGrpSpPr>
          <p:cNvPr id="529" name="Google Shape;529;p54"/>
          <p:cNvGrpSpPr/>
          <p:nvPr/>
        </p:nvGrpSpPr>
        <p:grpSpPr>
          <a:xfrm>
            <a:off x="4634799" y="3097057"/>
            <a:ext cx="1350566" cy="485688"/>
            <a:chOff x="3522225" y="1954250"/>
            <a:chExt cx="1582200" cy="485688"/>
          </a:xfrm>
        </p:grpSpPr>
        <p:sp>
          <p:nvSpPr>
            <p:cNvPr id="530" name="Google Shape;530;p54"/>
            <p:cNvSpPr txBox="1"/>
            <p:nvPr/>
          </p:nvSpPr>
          <p:spPr>
            <a:xfrm>
              <a:off x="3522225" y="2246438"/>
              <a:ext cx="15822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531" name="Google Shape;531;p54"/>
            <p:cNvSpPr txBox="1"/>
            <p:nvPr/>
          </p:nvSpPr>
          <p:spPr>
            <a:xfrm>
              <a:off x="3522225" y="1954250"/>
              <a:ext cx="1582200" cy="259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sp>
        <p:nvSpPr>
          <p:cNvPr id="532" name="Google Shape;532;p5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533" name="Google Shape;533;p54"/>
          <p:cNvGrpSpPr/>
          <p:nvPr/>
        </p:nvGrpSpPr>
        <p:grpSpPr>
          <a:xfrm>
            <a:off x="4634875" y="932875"/>
            <a:ext cx="1350600" cy="959450"/>
            <a:chOff x="4634875" y="932875"/>
            <a:chExt cx="1350600" cy="959450"/>
          </a:xfrm>
        </p:grpSpPr>
        <p:sp>
          <p:nvSpPr>
            <p:cNvPr id="534" name="Google Shape;534;p54"/>
            <p:cNvSpPr/>
            <p:nvPr/>
          </p:nvSpPr>
          <p:spPr>
            <a:xfrm>
              <a:off x="4763650" y="9328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solidFill>
                  <a:schemeClr val="lt2"/>
                </a:solidFill>
                <a:latin typeface="Arimo"/>
                <a:ea typeface="Arimo"/>
                <a:cs typeface="Arimo"/>
                <a:sym typeface="Arimo"/>
              </a:endParaRPr>
            </a:p>
          </p:txBody>
        </p:sp>
        <p:grpSp>
          <p:nvGrpSpPr>
            <p:cNvPr id="535" name="Google Shape;535;p54"/>
            <p:cNvGrpSpPr/>
            <p:nvPr/>
          </p:nvGrpSpPr>
          <p:grpSpPr>
            <a:xfrm>
              <a:off x="4634875" y="1050150"/>
              <a:ext cx="1350600" cy="842175"/>
              <a:chOff x="4634875" y="1050150"/>
              <a:chExt cx="1350600" cy="842175"/>
            </a:xfrm>
          </p:grpSpPr>
          <p:sp>
            <p:nvSpPr>
              <p:cNvPr id="536" name="Google Shape;536;p54"/>
              <p:cNvSpPr txBox="1"/>
              <p:nvPr/>
            </p:nvSpPr>
            <p:spPr>
              <a:xfrm>
                <a:off x="4634875" y="1698825"/>
                <a:ext cx="13506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537" name="Google Shape;537;p54"/>
              <p:cNvSpPr/>
              <p:nvPr/>
            </p:nvSpPr>
            <p:spPr>
              <a:xfrm>
                <a:off x="4763725" y="1050150"/>
                <a:ext cx="1092900" cy="339000"/>
              </a:xfrm>
              <a:prstGeom prst="roundRect">
                <a:avLst>
                  <a:gd fmla="val 10438"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grpSp>
      <p:grpSp>
        <p:nvGrpSpPr>
          <p:cNvPr id="538" name="Google Shape;538;p54"/>
          <p:cNvGrpSpPr/>
          <p:nvPr/>
        </p:nvGrpSpPr>
        <p:grpSpPr>
          <a:xfrm>
            <a:off x="5037625" y="3727725"/>
            <a:ext cx="545103" cy="259200"/>
            <a:chOff x="5037625" y="3727725"/>
            <a:chExt cx="545103" cy="259200"/>
          </a:xfrm>
        </p:grpSpPr>
        <p:pic>
          <p:nvPicPr>
            <p:cNvPr descr="A soundwave icon. " id="539" name="Google Shape;539;p54"/>
            <p:cNvPicPr preferRelativeResize="0"/>
            <p:nvPr/>
          </p:nvPicPr>
          <p:blipFill>
            <a:blip r:embed="rId4">
              <a:alphaModFix/>
            </a:blip>
            <a:stretch>
              <a:fillRect/>
            </a:stretch>
          </p:blipFill>
          <p:spPr>
            <a:xfrm>
              <a:off x="5272025" y="3727725"/>
              <a:ext cx="310703" cy="259200"/>
            </a:xfrm>
            <a:prstGeom prst="rect">
              <a:avLst/>
            </a:prstGeom>
            <a:noFill/>
            <a:ln>
              <a:noFill/>
            </a:ln>
          </p:spPr>
        </p:pic>
        <p:grpSp>
          <p:nvGrpSpPr>
            <p:cNvPr id="540" name="Google Shape;540;p54"/>
            <p:cNvGrpSpPr/>
            <p:nvPr/>
          </p:nvGrpSpPr>
          <p:grpSpPr>
            <a:xfrm>
              <a:off x="5037625" y="3753875"/>
              <a:ext cx="146400" cy="206900"/>
              <a:chOff x="5133300" y="3748925"/>
              <a:chExt cx="146400" cy="206900"/>
            </a:xfrm>
          </p:grpSpPr>
          <p:sp>
            <p:nvSpPr>
              <p:cNvPr id="541" name="Google Shape;541;p54"/>
              <p:cNvSpPr/>
              <p:nvPr/>
            </p:nvSpPr>
            <p:spPr>
              <a:xfrm>
                <a:off x="5133300" y="3870025"/>
                <a:ext cx="858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descr="A music note icon. " id="542" name="Google Shape;542;p54"/>
              <p:cNvCxnSpPr/>
              <p:nvPr/>
            </p:nvCxnSpPr>
            <p:spPr>
              <a:xfrm rot="10800000">
                <a:off x="5214175" y="3748925"/>
                <a:ext cx="0" cy="169800"/>
              </a:xfrm>
              <a:prstGeom prst="straightConnector1">
                <a:avLst/>
              </a:prstGeom>
              <a:noFill/>
              <a:ln cap="flat" cmpd="sng" w="9525">
                <a:solidFill>
                  <a:schemeClr val="lt2"/>
                </a:solidFill>
                <a:prstDash val="solid"/>
                <a:round/>
                <a:headEnd len="med" w="med" type="none"/>
                <a:tailEnd len="med" w="med" type="none"/>
              </a:ln>
            </p:spPr>
          </p:cxnSp>
          <p:sp>
            <p:nvSpPr>
              <p:cNvPr id="543" name="Google Shape;543;p54"/>
              <p:cNvSpPr/>
              <p:nvPr/>
            </p:nvSpPr>
            <p:spPr>
              <a:xfrm>
                <a:off x="5211000" y="3749000"/>
                <a:ext cx="68700" cy="3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pic>
        <p:nvPicPr>
          <p:cNvPr id="544" name="Google Shape;544;p54"/>
          <p:cNvPicPr preferRelativeResize="0"/>
          <p:nvPr/>
        </p:nvPicPr>
        <p:blipFill>
          <a:blip r:embed="rId5">
            <a:alphaModFix/>
          </a:blip>
          <a:stretch>
            <a:fillRect/>
          </a:stretch>
        </p:blipFill>
        <p:spPr>
          <a:xfrm>
            <a:off x="152400" y="152400"/>
            <a:ext cx="8869576" cy="4597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5</a:t>
            </a:r>
            <a:endParaRPr/>
          </a:p>
        </p:txBody>
      </p:sp>
      <p:sp>
        <p:nvSpPr>
          <p:cNvPr id="550" name="Google Shape;550;p5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Highlight a key product feature. If you already mentioned this feature in previous slides, use this space to describe it in more depth. Explain how it benefits users and solves their pain points. Make sure the accompanying metrics help support your description. </a:t>
            </a:r>
            <a:endParaRPr/>
          </a:p>
        </p:txBody>
      </p:sp>
      <p:sp>
        <p:nvSpPr>
          <p:cNvPr id="551" name="Google Shape;551;p55"/>
          <p:cNvSpPr/>
          <p:nvPr/>
        </p:nvSpPr>
        <p:spPr>
          <a:xfrm>
            <a:off x="4671650" y="536500"/>
            <a:ext cx="1709100" cy="2374800"/>
          </a:xfrm>
          <a:prstGeom prst="roundRect">
            <a:avLst>
              <a:gd fmla="val 14383"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552" name="Google Shape;552;p55"/>
          <p:cNvSpPr/>
          <p:nvPr/>
        </p:nvSpPr>
        <p:spPr>
          <a:xfrm rot="-5400000">
            <a:off x="5036716" y="955469"/>
            <a:ext cx="717300" cy="11205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553" name="Google Shape;553;p55"/>
          <p:cNvSpPr/>
          <p:nvPr/>
        </p:nvSpPr>
        <p:spPr>
          <a:xfrm>
            <a:off x="6504654" y="536500"/>
            <a:ext cx="2361900" cy="2374800"/>
          </a:xfrm>
          <a:prstGeom prst="roundRect">
            <a:avLst>
              <a:gd fmla="val 1055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nvGrpSpPr>
          <p:cNvPr id="554" name="Google Shape;554;p55"/>
          <p:cNvGrpSpPr/>
          <p:nvPr/>
        </p:nvGrpSpPr>
        <p:grpSpPr>
          <a:xfrm>
            <a:off x="6909483" y="799921"/>
            <a:ext cx="1552200" cy="546749"/>
            <a:chOff x="6909483" y="540921"/>
            <a:chExt cx="1552200" cy="546749"/>
          </a:xfrm>
        </p:grpSpPr>
        <p:sp>
          <p:nvSpPr>
            <p:cNvPr id="555" name="Google Shape;555;p55"/>
            <p:cNvSpPr txBox="1"/>
            <p:nvPr/>
          </p:nvSpPr>
          <p:spPr>
            <a:xfrm>
              <a:off x="6909483" y="865370"/>
              <a:ext cx="1552200" cy="2223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556" name="Google Shape;556;p55"/>
            <p:cNvSpPr txBox="1"/>
            <p:nvPr/>
          </p:nvSpPr>
          <p:spPr>
            <a:xfrm>
              <a:off x="6909483" y="540921"/>
              <a:ext cx="1552200" cy="29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cxnSp>
        <p:nvCxnSpPr>
          <p:cNvPr id="557" name="Google Shape;557;p55"/>
          <p:cNvCxnSpPr/>
          <p:nvPr/>
        </p:nvCxnSpPr>
        <p:spPr>
          <a:xfrm>
            <a:off x="6909483" y="1513381"/>
            <a:ext cx="1552200" cy="0"/>
          </a:xfrm>
          <a:prstGeom prst="straightConnector1">
            <a:avLst/>
          </a:prstGeom>
          <a:noFill/>
          <a:ln cap="flat" cmpd="sng" w="9525">
            <a:solidFill>
              <a:schemeClr val="accent2"/>
            </a:solidFill>
            <a:prstDash val="solid"/>
            <a:round/>
            <a:headEnd len="med" w="med" type="none"/>
            <a:tailEnd len="med" w="med" type="none"/>
          </a:ln>
        </p:spPr>
      </p:cxnSp>
      <p:grpSp>
        <p:nvGrpSpPr>
          <p:cNvPr id="558" name="Google Shape;558;p55"/>
          <p:cNvGrpSpPr/>
          <p:nvPr/>
        </p:nvGrpSpPr>
        <p:grpSpPr>
          <a:xfrm>
            <a:off x="6909232" y="1679999"/>
            <a:ext cx="1552138" cy="558201"/>
            <a:chOff x="3522225" y="1954250"/>
            <a:chExt cx="1582200" cy="485688"/>
          </a:xfrm>
        </p:grpSpPr>
        <p:sp>
          <p:nvSpPr>
            <p:cNvPr id="559" name="Google Shape;559;p55"/>
            <p:cNvSpPr txBox="1"/>
            <p:nvPr/>
          </p:nvSpPr>
          <p:spPr>
            <a:xfrm>
              <a:off x="3522225" y="2246438"/>
              <a:ext cx="15822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560" name="Google Shape;560;p55"/>
            <p:cNvSpPr txBox="1"/>
            <p:nvPr/>
          </p:nvSpPr>
          <p:spPr>
            <a:xfrm>
              <a:off x="3522225" y="1954250"/>
              <a:ext cx="1582200" cy="259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sp>
        <p:nvSpPr>
          <p:cNvPr id="561" name="Google Shape;561;p5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562" name="Google Shape;562;p55"/>
          <p:cNvGrpSpPr/>
          <p:nvPr/>
        </p:nvGrpSpPr>
        <p:grpSpPr>
          <a:xfrm>
            <a:off x="4671650" y="1150500"/>
            <a:ext cx="1709100" cy="1128824"/>
            <a:chOff x="4671650" y="891500"/>
            <a:chExt cx="1709100" cy="1128824"/>
          </a:xfrm>
        </p:grpSpPr>
        <p:sp>
          <p:nvSpPr>
            <p:cNvPr id="563" name="Google Shape;563;p55"/>
            <p:cNvSpPr txBox="1"/>
            <p:nvPr/>
          </p:nvSpPr>
          <p:spPr>
            <a:xfrm>
              <a:off x="4671650" y="1775524"/>
              <a:ext cx="1709100" cy="244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564" name="Google Shape;564;p55"/>
            <p:cNvSpPr/>
            <p:nvPr/>
          </p:nvSpPr>
          <p:spPr>
            <a:xfrm>
              <a:off x="4834700" y="891500"/>
              <a:ext cx="1383000" cy="7257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solidFill>
                  <a:schemeClr val="lt2"/>
                </a:solidFill>
                <a:latin typeface="Arimo"/>
                <a:ea typeface="Arimo"/>
                <a:cs typeface="Arimo"/>
                <a:sym typeface="Arimo"/>
              </a:endParaRPr>
            </a:p>
          </p:txBody>
        </p:sp>
        <p:sp>
          <p:nvSpPr>
            <p:cNvPr id="565" name="Google Shape;565;p55"/>
            <p:cNvSpPr/>
            <p:nvPr/>
          </p:nvSpPr>
          <p:spPr>
            <a:xfrm>
              <a:off x="4834704" y="1039901"/>
              <a:ext cx="1383000" cy="429000"/>
            </a:xfrm>
            <a:prstGeom prst="roundRect">
              <a:avLst>
                <a:gd fmla="val 10438"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grpSp>
        <p:nvGrpSpPr>
          <p:cNvPr id="566" name="Google Shape;566;p55"/>
          <p:cNvGrpSpPr/>
          <p:nvPr/>
        </p:nvGrpSpPr>
        <p:grpSpPr>
          <a:xfrm>
            <a:off x="7356358" y="2404824"/>
            <a:ext cx="657874" cy="312936"/>
            <a:chOff x="7234759" y="2622475"/>
            <a:chExt cx="823166" cy="391562"/>
          </a:xfrm>
        </p:grpSpPr>
        <p:pic>
          <p:nvPicPr>
            <p:cNvPr descr="Soundwave icon. " id="567" name="Google Shape;567;p55"/>
            <p:cNvPicPr preferRelativeResize="0"/>
            <p:nvPr/>
          </p:nvPicPr>
          <p:blipFill>
            <a:blip r:embed="rId3">
              <a:alphaModFix/>
            </a:blip>
            <a:stretch>
              <a:fillRect/>
            </a:stretch>
          </p:blipFill>
          <p:spPr>
            <a:xfrm>
              <a:off x="7588562" y="2622475"/>
              <a:ext cx="469362" cy="391562"/>
            </a:xfrm>
            <a:prstGeom prst="rect">
              <a:avLst/>
            </a:prstGeom>
            <a:noFill/>
            <a:ln>
              <a:noFill/>
            </a:ln>
          </p:spPr>
        </p:pic>
        <p:grpSp>
          <p:nvGrpSpPr>
            <p:cNvPr id="568" name="Google Shape;568;p55"/>
            <p:cNvGrpSpPr/>
            <p:nvPr/>
          </p:nvGrpSpPr>
          <p:grpSpPr>
            <a:xfrm>
              <a:off x="7234759" y="2662144"/>
              <a:ext cx="221166" cy="312564"/>
              <a:chOff x="5133300" y="3748925"/>
              <a:chExt cx="146400" cy="206900"/>
            </a:xfrm>
          </p:grpSpPr>
          <p:sp>
            <p:nvSpPr>
              <p:cNvPr descr="Musical note icon. " id="569" name="Google Shape;569;p55"/>
              <p:cNvSpPr/>
              <p:nvPr/>
            </p:nvSpPr>
            <p:spPr>
              <a:xfrm>
                <a:off x="5133300" y="3870025"/>
                <a:ext cx="858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0" name="Google Shape;570;p55"/>
              <p:cNvCxnSpPr/>
              <p:nvPr/>
            </p:nvCxnSpPr>
            <p:spPr>
              <a:xfrm rot="10800000">
                <a:off x="5214175" y="3748925"/>
                <a:ext cx="0" cy="169800"/>
              </a:xfrm>
              <a:prstGeom prst="straightConnector1">
                <a:avLst/>
              </a:prstGeom>
              <a:noFill/>
              <a:ln cap="flat" cmpd="sng" w="9525">
                <a:solidFill>
                  <a:schemeClr val="lt2"/>
                </a:solidFill>
                <a:prstDash val="solid"/>
                <a:round/>
                <a:headEnd len="med" w="med" type="none"/>
                <a:tailEnd len="med" w="med" type="none"/>
              </a:ln>
            </p:spPr>
          </p:cxnSp>
          <p:sp>
            <p:nvSpPr>
              <p:cNvPr id="571" name="Google Shape;571;p55"/>
              <p:cNvSpPr/>
              <p:nvPr/>
            </p:nvSpPr>
            <p:spPr>
              <a:xfrm>
                <a:off x="5211000" y="3749000"/>
                <a:ext cx="68700" cy="3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pic>
        <p:nvPicPr>
          <p:cNvPr id="572" name="Google Shape;572;p55"/>
          <p:cNvPicPr preferRelativeResize="0"/>
          <p:nvPr/>
        </p:nvPicPr>
        <p:blipFill>
          <a:blip r:embed="rId4">
            <a:alphaModFix/>
          </a:blip>
          <a:stretch>
            <a:fillRect/>
          </a:stretch>
        </p:blipFill>
        <p:spPr>
          <a:xfrm>
            <a:off x="152400" y="152400"/>
            <a:ext cx="8773277" cy="4597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6"/>
          <p:cNvSpPr txBox="1"/>
          <p:nvPr>
            <p:ph type="title"/>
          </p:nvPr>
        </p:nvSpPr>
        <p:spPr>
          <a:xfrm>
            <a:off x="277500" y="416250"/>
            <a:ext cx="2753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a:t>Target </a:t>
            </a:r>
            <a:endParaRPr/>
          </a:p>
          <a:p>
            <a:pPr indent="0" lvl="0" marL="0" rtl="0" algn="l">
              <a:spcBef>
                <a:spcPts val="0"/>
              </a:spcBef>
              <a:spcAft>
                <a:spcPts val="0"/>
              </a:spcAft>
              <a:buNone/>
            </a:pPr>
            <a:r>
              <a:rPr lang="en"/>
              <a:t>audiences</a:t>
            </a:r>
            <a:endParaRPr/>
          </a:p>
        </p:txBody>
      </p:sp>
      <p:sp>
        <p:nvSpPr>
          <p:cNvPr id="578" name="Google Shape;578;p5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 Name</a:t>
            </a:r>
            <a:endParaRPr/>
          </a:p>
        </p:txBody>
      </p:sp>
      <p:sp>
        <p:nvSpPr>
          <p:cNvPr id="579" name="Google Shape;579;p5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80" name="Google Shape;580;p56"/>
          <p:cNvPicPr preferRelativeResize="0"/>
          <p:nvPr/>
        </p:nvPicPr>
        <p:blipFill rotWithShape="1">
          <a:blip r:embed="rId3">
            <a:alphaModFix/>
          </a:blip>
          <a:srcRect b="0" l="27373" r="49201" t="0"/>
          <a:stretch/>
        </p:blipFill>
        <p:spPr>
          <a:xfrm>
            <a:off x="6067000" y="277500"/>
            <a:ext cx="2800500" cy="4582500"/>
          </a:xfrm>
          <a:prstGeom prst="roundRect">
            <a:avLst>
              <a:gd fmla="val 9632" name="adj"/>
            </a:avLst>
          </a:prstGeom>
          <a:noFill/>
          <a:ln>
            <a:noFill/>
          </a:ln>
        </p:spPr>
      </p:pic>
      <p:sp>
        <p:nvSpPr>
          <p:cNvPr id="581" name="Google Shape;581;p56"/>
          <p:cNvSpPr/>
          <p:nvPr/>
        </p:nvSpPr>
        <p:spPr>
          <a:xfrm>
            <a:off x="6260700" y="454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82" name="Google Shape;582;p56"/>
          <p:cNvSpPr txBox="1"/>
          <p:nvPr/>
        </p:nvSpPr>
        <p:spPr>
          <a:xfrm>
            <a:off x="6973200" y="510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Robert</a:t>
            </a:r>
            <a:r>
              <a:rPr lang="en" sz="1700">
                <a:solidFill>
                  <a:schemeClr val="dk1"/>
                </a:solidFill>
                <a:latin typeface="Arimo"/>
                <a:ea typeface="Arimo"/>
                <a:cs typeface="Arimo"/>
                <a:sym typeface="Arimo"/>
              </a:rPr>
              <a:t>, 34</a:t>
            </a:r>
            <a:endParaRPr sz="1700">
              <a:solidFill>
                <a:schemeClr val="dk1"/>
              </a:solidFill>
              <a:latin typeface="Arimo"/>
              <a:ea typeface="Arimo"/>
              <a:cs typeface="Arimo"/>
              <a:sym typeface="Arimo"/>
            </a:endParaRPr>
          </a:p>
        </p:txBody>
      </p:sp>
      <p:pic>
        <p:nvPicPr>
          <p:cNvPr descr="A man in a suit smiles while sitting in his office. " id="583" name="Google Shape;583;p56"/>
          <p:cNvPicPr preferRelativeResize="0"/>
          <p:nvPr/>
        </p:nvPicPr>
        <p:blipFill rotWithShape="1">
          <a:blip r:embed="rId4">
            <a:alphaModFix/>
          </a:blip>
          <a:srcRect b="46385" l="21317" r="43348" t="719"/>
          <a:stretch/>
        </p:blipFill>
        <p:spPr>
          <a:xfrm>
            <a:off x="6315023" y="509425"/>
            <a:ext cx="603600" cy="603600"/>
          </a:xfrm>
          <a:prstGeom prst="roundRect">
            <a:avLst>
              <a:gd fmla="val 50000" name="adj"/>
            </a:avLst>
          </a:prstGeom>
          <a:noFill/>
          <a:ln>
            <a:noFill/>
          </a:ln>
        </p:spPr>
      </p:pic>
      <p:grpSp>
        <p:nvGrpSpPr>
          <p:cNvPr id="584" name="Google Shape;584;p56"/>
          <p:cNvGrpSpPr/>
          <p:nvPr/>
        </p:nvGrpSpPr>
        <p:grpSpPr>
          <a:xfrm>
            <a:off x="6073150" y="1383425"/>
            <a:ext cx="2788200" cy="3106350"/>
            <a:chOff x="6073150" y="1383425"/>
            <a:chExt cx="2788200" cy="3106350"/>
          </a:xfrm>
        </p:grpSpPr>
        <p:grpSp>
          <p:nvGrpSpPr>
            <p:cNvPr id="585" name="Google Shape;585;p56"/>
            <p:cNvGrpSpPr/>
            <p:nvPr/>
          </p:nvGrpSpPr>
          <p:grpSpPr>
            <a:xfrm>
              <a:off x="6073150" y="1383425"/>
              <a:ext cx="2788200" cy="2079950"/>
              <a:chOff x="6073150" y="1383425"/>
              <a:chExt cx="2788200" cy="2079950"/>
            </a:xfrm>
          </p:grpSpPr>
          <p:cxnSp>
            <p:nvCxnSpPr>
              <p:cNvPr id="586" name="Google Shape;586;p56"/>
              <p:cNvCxnSpPr/>
              <p:nvPr/>
            </p:nvCxnSpPr>
            <p:spPr>
              <a:xfrm>
                <a:off x="6073150" y="2203000"/>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587" name="Google Shape;587;p56"/>
              <p:cNvCxnSpPr/>
              <p:nvPr/>
            </p:nvCxnSpPr>
            <p:spPr>
              <a:xfrm>
                <a:off x="6073150" y="1386575"/>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588" name="Google Shape;588;p56"/>
              <p:cNvCxnSpPr/>
              <p:nvPr/>
            </p:nvCxnSpPr>
            <p:spPr>
              <a:xfrm>
                <a:off x="7466050" y="1383425"/>
                <a:ext cx="0" cy="819900"/>
              </a:xfrm>
              <a:prstGeom prst="straightConnector1">
                <a:avLst/>
              </a:prstGeom>
              <a:noFill/>
              <a:ln cap="flat" cmpd="sng" w="9525">
                <a:solidFill>
                  <a:schemeClr val="dk2"/>
                </a:solidFill>
                <a:prstDash val="solid"/>
                <a:round/>
                <a:headEnd len="med" w="med" type="none"/>
                <a:tailEnd len="med" w="med" type="none"/>
              </a:ln>
            </p:spPr>
          </p:cxnSp>
          <p:cxnSp>
            <p:nvCxnSpPr>
              <p:cNvPr id="589" name="Google Shape;589;p56"/>
              <p:cNvCxnSpPr/>
              <p:nvPr/>
            </p:nvCxnSpPr>
            <p:spPr>
              <a:xfrm>
                <a:off x="6073150" y="3463375"/>
                <a:ext cx="2788200" cy="0"/>
              </a:xfrm>
              <a:prstGeom prst="straightConnector1">
                <a:avLst/>
              </a:prstGeom>
              <a:noFill/>
              <a:ln cap="flat" cmpd="sng" w="9525">
                <a:solidFill>
                  <a:schemeClr val="dk2"/>
                </a:solidFill>
                <a:prstDash val="solid"/>
                <a:round/>
                <a:headEnd len="med" w="med" type="none"/>
                <a:tailEnd len="med" w="med" type="none"/>
              </a:ln>
            </p:spPr>
          </p:cxnSp>
        </p:grpSp>
        <p:grpSp>
          <p:nvGrpSpPr>
            <p:cNvPr id="590" name="Google Shape;590;p56"/>
            <p:cNvGrpSpPr/>
            <p:nvPr/>
          </p:nvGrpSpPr>
          <p:grpSpPr>
            <a:xfrm>
              <a:off x="6260700" y="1500900"/>
              <a:ext cx="2477400" cy="2988875"/>
              <a:chOff x="6260700" y="1500900"/>
              <a:chExt cx="2477400" cy="2988875"/>
            </a:xfrm>
          </p:grpSpPr>
          <p:sp>
            <p:nvSpPr>
              <p:cNvPr id="591" name="Google Shape;591;p56"/>
              <p:cNvSpPr txBox="1"/>
              <p:nvPr/>
            </p:nvSpPr>
            <p:spPr>
              <a:xfrm>
                <a:off x="6260700" y="3886175"/>
                <a:ext cx="2477400" cy="60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sz="1500">
                    <a:solidFill>
                      <a:schemeClr val="lt1"/>
                    </a:solidFill>
                  </a:rPr>
                  <a:t>“Style is a way to say who you are without speaking”</a:t>
                </a:r>
                <a:endParaRPr sz="1300">
                  <a:solidFill>
                    <a:schemeClr val="lt1"/>
                  </a:solidFill>
                  <a:latin typeface="Arimo"/>
                  <a:ea typeface="Arimo"/>
                  <a:cs typeface="Arimo"/>
                  <a:sym typeface="Arimo"/>
                </a:endParaRPr>
              </a:p>
            </p:txBody>
          </p:sp>
          <p:grpSp>
            <p:nvGrpSpPr>
              <p:cNvPr id="592" name="Google Shape;592;p56"/>
              <p:cNvGrpSpPr/>
              <p:nvPr/>
            </p:nvGrpSpPr>
            <p:grpSpPr>
              <a:xfrm>
                <a:off x="7657288" y="1500900"/>
                <a:ext cx="959238" cy="580850"/>
                <a:chOff x="7657288" y="1500900"/>
                <a:chExt cx="959238" cy="580850"/>
              </a:xfrm>
            </p:grpSpPr>
            <p:grpSp>
              <p:nvGrpSpPr>
                <p:cNvPr id="593" name="Google Shape;593;p56"/>
                <p:cNvGrpSpPr/>
                <p:nvPr/>
              </p:nvGrpSpPr>
              <p:grpSpPr>
                <a:xfrm>
                  <a:off x="7660571" y="1500900"/>
                  <a:ext cx="955954" cy="250200"/>
                  <a:chOff x="7660571" y="1500900"/>
                  <a:chExt cx="955954" cy="250200"/>
                </a:xfrm>
              </p:grpSpPr>
              <p:sp>
                <p:nvSpPr>
                  <p:cNvPr id="594" name="Google Shape;594;p56"/>
                  <p:cNvSpPr txBox="1"/>
                  <p:nvPr/>
                </p:nvSpPr>
                <p:spPr>
                  <a:xfrm>
                    <a:off x="7904025"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Engineering</a:t>
                    </a:r>
                    <a:endParaRPr sz="800">
                      <a:solidFill>
                        <a:schemeClr val="dk1"/>
                      </a:solidFill>
                      <a:latin typeface="Arimo"/>
                      <a:ea typeface="Arimo"/>
                      <a:cs typeface="Arimo"/>
                      <a:sym typeface="Arimo"/>
                    </a:endParaRPr>
                  </a:p>
                </p:txBody>
              </p:sp>
              <p:grpSp>
                <p:nvGrpSpPr>
                  <p:cNvPr id="595" name="Google Shape;595;p56"/>
                  <p:cNvGrpSpPr/>
                  <p:nvPr/>
                </p:nvGrpSpPr>
                <p:grpSpPr>
                  <a:xfrm>
                    <a:off x="7660571" y="1540445"/>
                    <a:ext cx="172832" cy="159347"/>
                    <a:chOff x="4983738" y="2184175"/>
                    <a:chExt cx="289163" cy="266601"/>
                  </a:xfrm>
                </p:grpSpPr>
                <p:sp>
                  <p:nvSpPr>
                    <p:cNvPr id="596" name="Google Shape;596;p56"/>
                    <p:cNvSpPr/>
                    <p:nvPr/>
                  </p:nvSpPr>
                  <p:spPr>
                    <a:xfrm>
                      <a:off x="4983738" y="2184175"/>
                      <a:ext cx="289150" cy="171300"/>
                    </a:xfrm>
                    <a:custGeom>
                      <a:rect b="b" l="l" r="r" t="t"/>
                      <a:pathLst>
                        <a:path extrusionOk="0" h="6852" w="11566">
                          <a:moveTo>
                            <a:pt x="0" y="3256"/>
                          </a:moveTo>
                          <a:lnTo>
                            <a:pt x="5540" y="0"/>
                          </a:lnTo>
                          <a:lnTo>
                            <a:pt x="11566" y="3402"/>
                          </a:lnTo>
                          <a:lnTo>
                            <a:pt x="5686" y="6852"/>
                          </a:lnTo>
                          <a:close/>
                        </a:path>
                      </a:pathLst>
                    </a:custGeom>
                    <a:noFill/>
                    <a:ln cap="flat" cmpd="sng" w="9525">
                      <a:solidFill>
                        <a:schemeClr val="dk1"/>
                      </a:solidFill>
                      <a:prstDash val="solid"/>
                      <a:round/>
                      <a:headEnd len="med" w="med" type="none"/>
                      <a:tailEnd len="med" w="med" type="none"/>
                    </a:ln>
                  </p:spPr>
                </p:sp>
                <p:cxnSp>
                  <p:nvCxnSpPr>
                    <p:cNvPr id="597" name="Google Shape;597;p56"/>
                    <p:cNvCxnSpPr/>
                    <p:nvPr/>
                  </p:nvCxnSpPr>
                  <p:spPr>
                    <a:xfrm>
                      <a:off x="5272900" y="2269750"/>
                      <a:ext cx="0" cy="114300"/>
                    </a:xfrm>
                    <a:prstGeom prst="straightConnector1">
                      <a:avLst/>
                    </a:prstGeom>
                    <a:noFill/>
                    <a:ln cap="flat" cmpd="sng" w="9525">
                      <a:solidFill>
                        <a:schemeClr val="dk1"/>
                      </a:solidFill>
                      <a:prstDash val="solid"/>
                      <a:round/>
                      <a:headEnd len="med" w="med" type="none"/>
                      <a:tailEnd len="med" w="med" type="none"/>
                    </a:ln>
                  </p:spPr>
                </p:cxnSp>
                <p:sp>
                  <p:nvSpPr>
                    <p:cNvPr descr="Graduation cap icon. " id="598" name="Google Shape;598;p56"/>
                    <p:cNvSpPr/>
                    <p:nvPr/>
                  </p:nvSpPr>
                  <p:spPr>
                    <a:xfrm>
                      <a:off x="5020950" y="2287650"/>
                      <a:ext cx="207745" cy="163126"/>
                    </a:xfrm>
                    <a:custGeom>
                      <a:rect b="b" l="l" r="r" t="t"/>
                      <a:pathLst>
                        <a:path extrusionOk="0" h="6172" w="8067">
                          <a:moveTo>
                            <a:pt x="0" y="0"/>
                          </a:moveTo>
                          <a:lnTo>
                            <a:pt x="0" y="4082"/>
                          </a:lnTo>
                          <a:lnTo>
                            <a:pt x="4179" y="6172"/>
                          </a:lnTo>
                          <a:lnTo>
                            <a:pt x="8067" y="3936"/>
                          </a:lnTo>
                          <a:lnTo>
                            <a:pt x="8067" y="243"/>
                          </a:lnTo>
                          <a:lnTo>
                            <a:pt x="4082" y="2478"/>
                          </a:lnTo>
                          <a:close/>
                        </a:path>
                      </a:pathLst>
                    </a:custGeom>
                    <a:noFill/>
                    <a:ln cap="flat" cmpd="sng" w="9525">
                      <a:solidFill>
                        <a:schemeClr val="dk1"/>
                      </a:solidFill>
                      <a:prstDash val="solid"/>
                      <a:round/>
                      <a:headEnd len="med" w="med" type="none"/>
                      <a:tailEnd len="med" w="med" type="none"/>
                    </a:ln>
                  </p:spPr>
                </p:sp>
              </p:grpSp>
            </p:grpSp>
            <p:grpSp>
              <p:nvGrpSpPr>
                <p:cNvPr id="599" name="Google Shape;599;p56"/>
                <p:cNvGrpSpPr/>
                <p:nvPr/>
              </p:nvGrpSpPr>
              <p:grpSpPr>
                <a:xfrm>
                  <a:off x="7657288" y="1831550"/>
                  <a:ext cx="959238" cy="250200"/>
                  <a:chOff x="7657288" y="1831550"/>
                  <a:chExt cx="959238" cy="250200"/>
                </a:xfrm>
              </p:grpSpPr>
              <p:sp>
                <p:nvSpPr>
                  <p:cNvPr id="600" name="Google Shape;600;p56"/>
                  <p:cNvSpPr txBox="1"/>
                  <p:nvPr/>
                </p:nvSpPr>
                <p:spPr>
                  <a:xfrm>
                    <a:off x="7904025" y="183155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Tech Lead</a:t>
                    </a:r>
                    <a:endParaRPr sz="800">
                      <a:solidFill>
                        <a:schemeClr val="dk1"/>
                      </a:solidFill>
                      <a:latin typeface="Arimo"/>
                      <a:ea typeface="Arimo"/>
                      <a:cs typeface="Arimo"/>
                      <a:sym typeface="Arimo"/>
                    </a:endParaRPr>
                  </a:p>
                </p:txBody>
              </p:sp>
              <p:grpSp>
                <p:nvGrpSpPr>
                  <p:cNvPr id="601" name="Google Shape;601;p56"/>
                  <p:cNvGrpSpPr/>
                  <p:nvPr/>
                </p:nvGrpSpPr>
                <p:grpSpPr>
                  <a:xfrm>
                    <a:off x="7657288" y="1872375"/>
                    <a:ext cx="179400" cy="158050"/>
                    <a:chOff x="4739975" y="1877300"/>
                    <a:chExt cx="179400" cy="158050"/>
                  </a:xfrm>
                </p:grpSpPr>
                <p:sp>
                  <p:nvSpPr>
                    <p:cNvPr descr="Suitcase icon. " id="602" name="Google Shape;602;p56"/>
                    <p:cNvSpPr/>
                    <p:nvPr/>
                  </p:nvSpPr>
                  <p:spPr>
                    <a:xfrm>
                      <a:off x="4739975" y="1910250"/>
                      <a:ext cx="179400" cy="125100"/>
                    </a:xfrm>
                    <a:prstGeom prst="roundRect">
                      <a:avLst>
                        <a:gd fmla="val 767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603" name="Google Shape;603;p56"/>
                    <p:cNvSpPr/>
                    <p:nvPr/>
                  </p:nvSpPr>
                  <p:spPr>
                    <a:xfrm>
                      <a:off x="4805025" y="1877300"/>
                      <a:ext cx="51225" cy="31225"/>
                    </a:xfrm>
                    <a:custGeom>
                      <a:rect b="b" l="l" r="r" t="t"/>
                      <a:pathLst>
                        <a:path extrusionOk="0" h="1249" w="2049">
                          <a:moveTo>
                            <a:pt x="0" y="1185"/>
                          </a:moveTo>
                          <a:lnTo>
                            <a:pt x="0" y="0"/>
                          </a:lnTo>
                          <a:lnTo>
                            <a:pt x="2049" y="0"/>
                          </a:lnTo>
                          <a:lnTo>
                            <a:pt x="2049" y="1249"/>
                          </a:lnTo>
                        </a:path>
                      </a:pathLst>
                    </a:custGeom>
                    <a:noFill/>
                    <a:ln cap="flat" cmpd="sng" w="9525">
                      <a:solidFill>
                        <a:schemeClr val="dk1"/>
                      </a:solidFill>
                      <a:prstDash val="solid"/>
                      <a:round/>
                      <a:headEnd len="med" w="med" type="none"/>
                      <a:tailEnd len="med" w="med" type="none"/>
                    </a:ln>
                  </p:spPr>
                </p:sp>
              </p:grpSp>
            </p:grpSp>
          </p:grpSp>
          <p:grpSp>
            <p:nvGrpSpPr>
              <p:cNvPr id="604" name="Google Shape;604;p56"/>
              <p:cNvGrpSpPr/>
              <p:nvPr/>
            </p:nvGrpSpPr>
            <p:grpSpPr>
              <a:xfrm>
                <a:off x="6299375" y="1500900"/>
                <a:ext cx="955925" cy="580875"/>
                <a:chOff x="6299375" y="1500900"/>
                <a:chExt cx="955925" cy="580875"/>
              </a:xfrm>
            </p:grpSpPr>
            <p:grpSp>
              <p:nvGrpSpPr>
                <p:cNvPr id="605" name="Google Shape;605;p56"/>
                <p:cNvGrpSpPr/>
                <p:nvPr/>
              </p:nvGrpSpPr>
              <p:grpSpPr>
                <a:xfrm>
                  <a:off x="6299375" y="1831575"/>
                  <a:ext cx="955925" cy="250200"/>
                  <a:chOff x="6299375" y="1831575"/>
                  <a:chExt cx="955925" cy="250200"/>
                </a:xfrm>
              </p:grpSpPr>
              <p:sp>
                <p:nvSpPr>
                  <p:cNvPr id="606" name="Google Shape;606;p56"/>
                  <p:cNvSpPr txBox="1"/>
                  <p:nvPr/>
                </p:nvSpPr>
                <p:spPr>
                  <a:xfrm>
                    <a:off x="6542800" y="1831575"/>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Trendy tryouts!</a:t>
                    </a:r>
                    <a:endParaRPr sz="800">
                      <a:solidFill>
                        <a:schemeClr val="dk1"/>
                      </a:solidFill>
                      <a:latin typeface="Arimo"/>
                      <a:ea typeface="Arimo"/>
                      <a:cs typeface="Arimo"/>
                      <a:sym typeface="Arimo"/>
                    </a:endParaRPr>
                  </a:p>
                </p:txBody>
              </p:sp>
              <p:sp>
                <p:nvSpPr>
                  <p:cNvPr descr="Heart icon" id="607" name="Google Shape;607;p56"/>
                  <p:cNvSpPr/>
                  <p:nvPr/>
                </p:nvSpPr>
                <p:spPr>
                  <a:xfrm>
                    <a:off x="6299375" y="1896388"/>
                    <a:ext cx="172800" cy="159300"/>
                  </a:xfrm>
                  <a:prstGeom prst="hear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grpSp>
              <p:nvGrpSpPr>
                <p:cNvPr id="608" name="Google Shape;608;p56"/>
                <p:cNvGrpSpPr/>
                <p:nvPr/>
              </p:nvGrpSpPr>
              <p:grpSpPr>
                <a:xfrm>
                  <a:off x="6311850" y="1500900"/>
                  <a:ext cx="943450" cy="250200"/>
                  <a:chOff x="6311850" y="1500900"/>
                  <a:chExt cx="943450" cy="250200"/>
                </a:xfrm>
              </p:grpSpPr>
              <p:sp>
                <p:nvSpPr>
                  <p:cNvPr id="609" name="Google Shape;609;p56"/>
                  <p:cNvSpPr txBox="1"/>
                  <p:nvPr/>
                </p:nvSpPr>
                <p:spPr>
                  <a:xfrm>
                    <a:off x="6542800"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800">
                        <a:solidFill>
                          <a:schemeClr val="dk1"/>
                        </a:solidFill>
                        <a:latin typeface="Arimo"/>
                        <a:ea typeface="Arimo"/>
                        <a:cs typeface="Arimo"/>
                        <a:sym typeface="Arimo"/>
                      </a:rPr>
                      <a:t>Jaipur</a:t>
                    </a:r>
                    <a:endParaRPr sz="800">
                      <a:solidFill>
                        <a:schemeClr val="dk1"/>
                      </a:solidFill>
                      <a:latin typeface="Arimo"/>
                      <a:ea typeface="Arimo"/>
                      <a:cs typeface="Arimo"/>
                      <a:sym typeface="Arimo"/>
                    </a:endParaRPr>
                  </a:p>
                </p:txBody>
              </p:sp>
              <p:pic>
                <p:nvPicPr>
                  <p:cNvPr descr="Graduation marker. " id="610" name="Google Shape;610;p56"/>
                  <p:cNvPicPr preferRelativeResize="0"/>
                  <p:nvPr/>
                </p:nvPicPr>
                <p:blipFill>
                  <a:blip r:embed="rId5">
                    <a:alphaModFix/>
                  </a:blip>
                  <a:stretch>
                    <a:fillRect/>
                  </a:stretch>
                </p:blipFill>
                <p:spPr>
                  <a:xfrm>
                    <a:off x="6311850" y="1548723"/>
                    <a:ext cx="147850" cy="187502"/>
                  </a:xfrm>
                  <a:prstGeom prst="rect">
                    <a:avLst/>
                  </a:prstGeom>
                  <a:noFill/>
                  <a:ln>
                    <a:noFill/>
                  </a:ln>
                </p:spPr>
              </p:pic>
            </p:grpSp>
          </p:grpSp>
          <p:grpSp>
            <p:nvGrpSpPr>
              <p:cNvPr id="611" name="Google Shape;611;p56"/>
              <p:cNvGrpSpPr/>
              <p:nvPr/>
            </p:nvGrpSpPr>
            <p:grpSpPr>
              <a:xfrm>
                <a:off x="6297088" y="2443650"/>
                <a:ext cx="2363213" cy="760063"/>
                <a:chOff x="6297088" y="2443650"/>
                <a:chExt cx="2363213" cy="760063"/>
              </a:xfrm>
            </p:grpSpPr>
            <p:grpSp>
              <p:nvGrpSpPr>
                <p:cNvPr id="612" name="Google Shape;612;p56"/>
                <p:cNvGrpSpPr/>
                <p:nvPr/>
              </p:nvGrpSpPr>
              <p:grpSpPr>
                <a:xfrm>
                  <a:off x="6297088" y="2443650"/>
                  <a:ext cx="2363213" cy="250200"/>
                  <a:chOff x="6297088" y="2443650"/>
                  <a:chExt cx="2363213" cy="250200"/>
                </a:xfrm>
              </p:grpSpPr>
              <p:sp>
                <p:nvSpPr>
                  <p:cNvPr id="613" name="Google Shape;613;p56"/>
                  <p:cNvSpPr txBox="1"/>
                  <p:nvPr/>
                </p:nvSpPr>
                <p:spPr>
                  <a:xfrm>
                    <a:off x="6619400" y="2443650"/>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700">
                        <a:solidFill>
                          <a:schemeClr val="dk1"/>
                        </a:solidFill>
                        <a:latin typeface="Arimo"/>
                        <a:ea typeface="Arimo"/>
                        <a:cs typeface="Arimo"/>
                        <a:sym typeface="Arimo"/>
                      </a:rPr>
                      <a:t>Analyzed a user behavior. For example, they love exploring trendy fashion on the Closet Fashion.</a:t>
                    </a:r>
                    <a:endParaRPr sz="700">
                      <a:solidFill>
                        <a:schemeClr val="dk1"/>
                      </a:solidFill>
                      <a:latin typeface="Arimo"/>
                      <a:ea typeface="Arimo"/>
                      <a:cs typeface="Arimo"/>
                      <a:sym typeface="Arimo"/>
                    </a:endParaRPr>
                  </a:p>
                </p:txBody>
              </p:sp>
              <p:grpSp>
                <p:nvGrpSpPr>
                  <p:cNvPr id="614" name="Google Shape;614;p56"/>
                  <p:cNvGrpSpPr/>
                  <p:nvPr/>
                </p:nvGrpSpPr>
                <p:grpSpPr>
                  <a:xfrm>
                    <a:off x="6297088" y="2474438"/>
                    <a:ext cx="177375" cy="177225"/>
                    <a:chOff x="3367975" y="2474450"/>
                    <a:chExt cx="177375" cy="177225"/>
                  </a:xfrm>
                </p:grpSpPr>
                <p:sp>
                  <p:nvSpPr>
                    <p:cNvPr descr="A shopping cart icon" id="615" name="Google Shape;615;p56"/>
                    <p:cNvSpPr/>
                    <p:nvPr/>
                  </p:nvSpPr>
                  <p:spPr>
                    <a:xfrm>
                      <a:off x="3367975" y="2474450"/>
                      <a:ext cx="177375" cy="90225"/>
                    </a:xfrm>
                    <a:custGeom>
                      <a:rect b="b" l="l" r="r" t="t"/>
                      <a:pathLst>
                        <a:path extrusionOk="0" h="3609" w="7095">
                          <a:moveTo>
                            <a:pt x="0" y="0"/>
                          </a:moveTo>
                          <a:lnTo>
                            <a:pt x="861" y="0"/>
                          </a:lnTo>
                          <a:lnTo>
                            <a:pt x="2502" y="3609"/>
                          </a:lnTo>
                          <a:lnTo>
                            <a:pt x="5742" y="3609"/>
                          </a:lnTo>
                          <a:lnTo>
                            <a:pt x="7095" y="943"/>
                          </a:lnTo>
                          <a:lnTo>
                            <a:pt x="1271" y="902"/>
                          </a:lnTo>
                        </a:path>
                      </a:pathLst>
                    </a:custGeom>
                    <a:noFill/>
                    <a:ln cap="flat" cmpd="sng" w="9525">
                      <a:solidFill>
                        <a:schemeClr val="dk1"/>
                      </a:solidFill>
                      <a:prstDash val="solid"/>
                      <a:round/>
                      <a:headEnd len="med" w="med" type="none"/>
                      <a:tailEnd len="med" w="med" type="none"/>
                    </a:ln>
                  </p:spPr>
                </p:sp>
                <p:sp>
                  <p:nvSpPr>
                    <p:cNvPr id="616" name="Google Shape;616;p56"/>
                    <p:cNvSpPr/>
                    <p:nvPr/>
                  </p:nvSpPr>
                  <p:spPr>
                    <a:xfrm>
                      <a:off x="3406300" y="2559550"/>
                      <a:ext cx="126100" cy="42025"/>
                    </a:xfrm>
                    <a:custGeom>
                      <a:rect b="b" l="l" r="r" t="t"/>
                      <a:pathLst>
                        <a:path extrusionOk="0" h="1681" w="5044">
                          <a:moveTo>
                            <a:pt x="943" y="0"/>
                          </a:moveTo>
                          <a:lnTo>
                            <a:pt x="0" y="1681"/>
                          </a:lnTo>
                          <a:lnTo>
                            <a:pt x="5044" y="1681"/>
                          </a:lnTo>
                        </a:path>
                      </a:pathLst>
                    </a:custGeom>
                    <a:noFill/>
                    <a:ln cap="flat" cmpd="sng" w="9525">
                      <a:solidFill>
                        <a:schemeClr val="dk1"/>
                      </a:solidFill>
                      <a:prstDash val="solid"/>
                      <a:round/>
                      <a:headEnd len="med" w="med" type="none"/>
                      <a:tailEnd len="med" w="med" type="none"/>
                    </a:ln>
                  </p:spPr>
                </p:sp>
                <p:sp>
                  <p:nvSpPr>
                    <p:cNvPr id="617" name="Google Shape;617;p56"/>
                    <p:cNvSpPr/>
                    <p:nvPr/>
                  </p:nvSpPr>
                  <p:spPr>
                    <a:xfrm>
                      <a:off x="34063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56"/>
                    <p:cNvSpPr/>
                    <p:nvPr/>
                  </p:nvSpPr>
                  <p:spPr>
                    <a:xfrm>
                      <a:off x="35015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619" name="Google Shape;619;p56"/>
                <p:cNvGrpSpPr/>
                <p:nvPr/>
              </p:nvGrpSpPr>
              <p:grpSpPr>
                <a:xfrm>
                  <a:off x="6311862" y="2953513"/>
                  <a:ext cx="2348438" cy="250200"/>
                  <a:chOff x="6311862" y="2953513"/>
                  <a:chExt cx="2348438" cy="250200"/>
                </a:xfrm>
              </p:grpSpPr>
              <p:sp>
                <p:nvSpPr>
                  <p:cNvPr id="620" name="Google Shape;620;p56"/>
                  <p:cNvSpPr txBox="1"/>
                  <p:nvPr/>
                </p:nvSpPr>
                <p:spPr>
                  <a:xfrm>
                    <a:off x="6619400" y="2953513"/>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700">
                        <a:solidFill>
                          <a:schemeClr val="dk1"/>
                        </a:solidFill>
                        <a:latin typeface="Arimo"/>
                        <a:ea typeface="Arimo"/>
                        <a:cs typeface="Arimo"/>
                        <a:sym typeface="Arimo"/>
                      </a:rPr>
                      <a:t>They continue to product page, check different sizes, colors, and details and receive a superfast delivery.</a:t>
                    </a:r>
                    <a:endParaRPr sz="700">
                      <a:solidFill>
                        <a:schemeClr val="dk1"/>
                      </a:solidFill>
                      <a:latin typeface="Arimo"/>
                      <a:ea typeface="Arimo"/>
                      <a:cs typeface="Arimo"/>
                      <a:sym typeface="Arimo"/>
                    </a:endParaRPr>
                  </a:p>
                </p:txBody>
              </p:sp>
              <p:pic>
                <p:nvPicPr>
                  <p:cNvPr descr="A finger tap icon" id="621" name="Google Shape;621;p56"/>
                  <p:cNvPicPr preferRelativeResize="0"/>
                  <p:nvPr/>
                </p:nvPicPr>
                <p:blipFill>
                  <a:blip r:embed="rId6">
                    <a:alphaModFix/>
                  </a:blip>
                  <a:stretch>
                    <a:fillRect/>
                  </a:stretch>
                </p:blipFill>
                <p:spPr>
                  <a:xfrm>
                    <a:off x="6311862" y="2974155"/>
                    <a:ext cx="147825" cy="210332"/>
                  </a:xfrm>
                  <a:prstGeom prst="rect">
                    <a:avLst/>
                  </a:prstGeom>
                  <a:noFill/>
                  <a:ln>
                    <a:noFill/>
                  </a:ln>
                </p:spPr>
              </p:pic>
            </p:grpSp>
          </p:grpSp>
        </p:grpSp>
      </p:grpSp>
      <p:pic>
        <p:nvPicPr>
          <p:cNvPr id="622" name="Google Shape;622;p56"/>
          <p:cNvPicPr preferRelativeResize="0"/>
          <p:nvPr/>
        </p:nvPicPr>
        <p:blipFill rotWithShape="1">
          <a:blip r:embed="rId3">
            <a:alphaModFix/>
          </a:blip>
          <a:srcRect b="0" l="27373" r="49201" t="0"/>
          <a:stretch/>
        </p:blipFill>
        <p:spPr>
          <a:xfrm>
            <a:off x="3148625" y="277500"/>
            <a:ext cx="2800500" cy="4582500"/>
          </a:xfrm>
          <a:prstGeom prst="roundRect">
            <a:avLst>
              <a:gd fmla="val 9632" name="adj"/>
            </a:avLst>
          </a:prstGeom>
          <a:noFill/>
          <a:ln>
            <a:noFill/>
          </a:ln>
        </p:spPr>
      </p:pic>
      <p:sp>
        <p:nvSpPr>
          <p:cNvPr id="623" name="Google Shape;623;p56"/>
          <p:cNvSpPr/>
          <p:nvPr/>
        </p:nvSpPr>
        <p:spPr>
          <a:xfrm>
            <a:off x="3343375" y="454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24" name="Google Shape;624;p56"/>
          <p:cNvSpPr txBox="1"/>
          <p:nvPr/>
        </p:nvSpPr>
        <p:spPr>
          <a:xfrm>
            <a:off x="4055875" y="510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Eliza</a:t>
            </a:r>
            <a:r>
              <a:rPr lang="en" sz="1700">
                <a:solidFill>
                  <a:schemeClr val="dk1"/>
                </a:solidFill>
                <a:latin typeface="Arimo"/>
                <a:ea typeface="Arimo"/>
                <a:cs typeface="Arimo"/>
                <a:sym typeface="Arimo"/>
              </a:rPr>
              <a:t>, 26y</a:t>
            </a:r>
            <a:endParaRPr sz="1700">
              <a:solidFill>
                <a:schemeClr val="dk1"/>
              </a:solidFill>
              <a:latin typeface="Arimo"/>
              <a:ea typeface="Arimo"/>
              <a:cs typeface="Arimo"/>
              <a:sym typeface="Arimo"/>
            </a:endParaRPr>
          </a:p>
        </p:txBody>
      </p:sp>
      <p:pic>
        <p:nvPicPr>
          <p:cNvPr descr="A woman stands in a train, looking off to the side and holding takeaway coffee." id="625" name="Google Shape;625;p56"/>
          <p:cNvPicPr preferRelativeResize="0"/>
          <p:nvPr/>
        </p:nvPicPr>
        <p:blipFill rotWithShape="1">
          <a:blip r:embed="rId7">
            <a:alphaModFix/>
          </a:blip>
          <a:srcRect b="39464" l="44862" r="20863" t="9003"/>
          <a:stretch/>
        </p:blipFill>
        <p:spPr>
          <a:xfrm>
            <a:off x="3399050" y="509425"/>
            <a:ext cx="603600" cy="603600"/>
          </a:xfrm>
          <a:prstGeom prst="roundRect">
            <a:avLst>
              <a:gd fmla="val 50000" name="adj"/>
            </a:avLst>
          </a:prstGeom>
          <a:noFill/>
          <a:ln>
            <a:noFill/>
          </a:ln>
        </p:spPr>
      </p:pic>
      <p:grpSp>
        <p:nvGrpSpPr>
          <p:cNvPr id="626" name="Google Shape;626;p56"/>
          <p:cNvGrpSpPr/>
          <p:nvPr/>
        </p:nvGrpSpPr>
        <p:grpSpPr>
          <a:xfrm>
            <a:off x="3155825" y="1383425"/>
            <a:ext cx="2788200" cy="3026750"/>
            <a:chOff x="3155825" y="1383425"/>
            <a:chExt cx="2788200" cy="3026750"/>
          </a:xfrm>
        </p:grpSpPr>
        <p:grpSp>
          <p:nvGrpSpPr>
            <p:cNvPr id="627" name="Google Shape;627;p56"/>
            <p:cNvGrpSpPr/>
            <p:nvPr/>
          </p:nvGrpSpPr>
          <p:grpSpPr>
            <a:xfrm>
              <a:off x="3155825" y="1383425"/>
              <a:ext cx="2788200" cy="2079950"/>
              <a:chOff x="3155825" y="1383425"/>
              <a:chExt cx="2788200" cy="2079950"/>
            </a:xfrm>
          </p:grpSpPr>
          <p:cxnSp>
            <p:nvCxnSpPr>
              <p:cNvPr id="628" name="Google Shape;628;p56"/>
              <p:cNvCxnSpPr/>
              <p:nvPr/>
            </p:nvCxnSpPr>
            <p:spPr>
              <a:xfrm>
                <a:off x="3155825" y="2203000"/>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56"/>
              <p:cNvCxnSpPr/>
              <p:nvPr/>
            </p:nvCxnSpPr>
            <p:spPr>
              <a:xfrm>
                <a:off x="3155825" y="1386575"/>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630" name="Google Shape;630;p56"/>
              <p:cNvCxnSpPr/>
              <p:nvPr/>
            </p:nvCxnSpPr>
            <p:spPr>
              <a:xfrm>
                <a:off x="4548725" y="1383425"/>
                <a:ext cx="0" cy="819900"/>
              </a:xfrm>
              <a:prstGeom prst="straightConnector1">
                <a:avLst/>
              </a:prstGeom>
              <a:noFill/>
              <a:ln cap="flat" cmpd="sng" w="9525">
                <a:solidFill>
                  <a:schemeClr val="dk2"/>
                </a:solidFill>
                <a:prstDash val="solid"/>
                <a:round/>
                <a:headEnd len="med" w="med" type="none"/>
                <a:tailEnd len="med" w="med" type="none"/>
              </a:ln>
            </p:spPr>
          </p:cxnSp>
          <p:cxnSp>
            <p:nvCxnSpPr>
              <p:cNvPr id="631" name="Google Shape;631;p56"/>
              <p:cNvCxnSpPr/>
              <p:nvPr/>
            </p:nvCxnSpPr>
            <p:spPr>
              <a:xfrm>
                <a:off x="3155825" y="3463375"/>
                <a:ext cx="2788200" cy="0"/>
              </a:xfrm>
              <a:prstGeom prst="straightConnector1">
                <a:avLst/>
              </a:prstGeom>
              <a:noFill/>
              <a:ln cap="flat" cmpd="sng" w="9525">
                <a:solidFill>
                  <a:schemeClr val="dk2"/>
                </a:solidFill>
                <a:prstDash val="solid"/>
                <a:round/>
                <a:headEnd len="med" w="med" type="none"/>
                <a:tailEnd len="med" w="med" type="none"/>
              </a:ln>
            </p:spPr>
          </p:cxnSp>
        </p:grpSp>
        <p:grpSp>
          <p:nvGrpSpPr>
            <p:cNvPr id="632" name="Google Shape;632;p56"/>
            <p:cNvGrpSpPr/>
            <p:nvPr/>
          </p:nvGrpSpPr>
          <p:grpSpPr>
            <a:xfrm>
              <a:off x="3333300" y="1500900"/>
              <a:ext cx="2477400" cy="2909275"/>
              <a:chOff x="3333300" y="1500900"/>
              <a:chExt cx="2477400" cy="2909275"/>
            </a:xfrm>
          </p:grpSpPr>
          <p:sp>
            <p:nvSpPr>
              <p:cNvPr id="633" name="Google Shape;633;p56"/>
              <p:cNvSpPr txBox="1"/>
              <p:nvPr/>
            </p:nvSpPr>
            <p:spPr>
              <a:xfrm>
                <a:off x="3333300" y="3871675"/>
                <a:ext cx="2477400" cy="53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500">
                    <a:solidFill>
                      <a:schemeClr val="lt1"/>
                    </a:solidFill>
                  </a:rPr>
                  <a:t>“Fashion fades, only style remains the same</a:t>
                </a:r>
                <a:r>
                  <a:rPr lang="en">
                    <a:solidFill>
                      <a:schemeClr val="lt1"/>
                    </a:solidFill>
                  </a:rPr>
                  <a:t>”</a:t>
                </a:r>
                <a:endParaRPr sz="1300">
                  <a:solidFill>
                    <a:schemeClr val="lt1"/>
                  </a:solidFill>
                  <a:latin typeface="Arimo"/>
                  <a:ea typeface="Arimo"/>
                  <a:cs typeface="Arimo"/>
                  <a:sym typeface="Arimo"/>
                </a:endParaRPr>
              </a:p>
            </p:txBody>
          </p:sp>
          <p:grpSp>
            <p:nvGrpSpPr>
              <p:cNvPr id="634" name="Google Shape;634;p56"/>
              <p:cNvGrpSpPr/>
              <p:nvPr/>
            </p:nvGrpSpPr>
            <p:grpSpPr>
              <a:xfrm>
                <a:off x="4740038" y="1500900"/>
                <a:ext cx="959163" cy="580850"/>
                <a:chOff x="4740038" y="1500900"/>
                <a:chExt cx="959163" cy="580850"/>
              </a:xfrm>
            </p:grpSpPr>
            <p:grpSp>
              <p:nvGrpSpPr>
                <p:cNvPr id="635" name="Google Shape;635;p56"/>
                <p:cNvGrpSpPr/>
                <p:nvPr/>
              </p:nvGrpSpPr>
              <p:grpSpPr>
                <a:xfrm>
                  <a:off x="4743321" y="1500900"/>
                  <a:ext cx="955879" cy="250200"/>
                  <a:chOff x="4743321" y="1500900"/>
                  <a:chExt cx="955879" cy="250200"/>
                </a:xfrm>
              </p:grpSpPr>
              <p:sp>
                <p:nvSpPr>
                  <p:cNvPr id="636" name="Google Shape;636;p56"/>
                  <p:cNvSpPr txBox="1"/>
                  <p:nvPr/>
                </p:nvSpPr>
                <p:spPr>
                  <a:xfrm>
                    <a:off x="4986700"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MBA</a:t>
                    </a:r>
                    <a:endParaRPr sz="800">
                      <a:solidFill>
                        <a:schemeClr val="dk1"/>
                      </a:solidFill>
                      <a:latin typeface="Arimo"/>
                      <a:ea typeface="Arimo"/>
                      <a:cs typeface="Arimo"/>
                      <a:sym typeface="Arimo"/>
                    </a:endParaRPr>
                  </a:p>
                </p:txBody>
              </p:sp>
              <p:grpSp>
                <p:nvGrpSpPr>
                  <p:cNvPr id="637" name="Google Shape;637;p56"/>
                  <p:cNvGrpSpPr/>
                  <p:nvPr/>
                </p:nvGrpSpPr>
                <p:grpSpPr>
                  <a:xfrm>
                    <a:off x="4743321" y="1540445"/>
                    <a:ext cx="172832" cy="159347"/>
                    <a:chOff x="4983738" y="2184175"/>
                    <a:chExt cx="289163" cy="266601"/>
                  </a:xfrm>
                </p:grpSpPr>
                <p:sp>
                  <p:nvSpPr>
                    <p:cNvPr id="638" name="Google Shape;638;p56"/>
                    <p:cNvSpPr/>
                    <p:nvPr/>
                  </p:nvSpPr>
                  <p:spPr>
                    <a:xfrm>
                      <a:off x="4983738" y="2184175"/>
                      <a:ext cx="289150" cy="171300"/>
                    </a:xfrm>
                    <a:custGeom>
                      <a:rect b="b" l="l" r="r" t="t"/>
                      <a:pathLst>
                        <a:path extrusionOk="0" h="6852" w="11566">
                          <a:moveTo>
                            <a:pt x="0" y="3256"/>
                          </a:moveTo>
                          <a:lnTo>
                            <a:pt x="5540" y="0"/>
                          </a:lnTo>
                          <a:lnTo>
                            <a:pt x="11566" y="3402"/>
                          </a:lnTo>
                          <a:lnTo>
                            <a:pt x="5686" y="6852"/>
                          </a:lnTo>
                          <a:close/>
                        </a:path>
                      </a:pathLst>
                    </a:custGeom>
                    <a:noFill/>
                    <a:ln cap="flat" cmpd="sng" w="9525">
                      <a:solidFill>
                        <a:schemeClr val="dk1"/>
                      </a:solidFill>
                      <a:prstDash val="solid"/>
                      <a:round/>
                      <a:headEnd len="med" w="med" type="none"/>
                      <a:tailEnd len="med" w="med" type="none"/>
                    </a:ln>
                  </p:spPr>
                </p:sp>
                <p:cxnSp>
                  <p:nvCxnSpPr>
                    <p:cNvPr id="639" name="Google Shape;639;p56"/>
                    <p:cNvCxnSpPr/>
                    <p:nvPr/>
                  </p:nvCxnSpPr>
                  <p:spPr>
                    <a:xfrm>
                      <a:off x="5272900" y="2269750"/>
                      <a:ext cx="0" cy="114300"/>
                    </a:xfrm>
                    <a:prstGeom prst="straightConnector1">
                      <a:avLst/>
                    </a:prstGeom>
                    <a:noFill/>
                    <a:ln cap="flat" cmpd="sng" w="9525">
                      <a:solidFill>
                        <a:schemeClr val="dk1"/>
                      </a:solidFill>
                      <a:prstDash val="solid"/>
                      <a:round/>
                      <a:headEnd len="med" w="med" type="none"/>
                      <a:tailEnd len="med" w="med" type="none"/>
                    </a:ln>
                  </p:spPr>
                </p:cxnSp>
                <p:sp>
                  <p:nvSpPr>
                    <p:cNvPr descr="Graduation cap icon. " id="640" name="Google Shape;640;p56"/>
                    <p:cNvSpPr/>
                    <p:nvPr/>
                  </p:nvSpPr>
                  <p:spPr>
                    <a:xfrm>
                      <a:off x="5020950" y="2287650"/>
                      <a:ext cx="207745" cy="163126"/>
                    </a:xfrm>
                    <a:custGeom>
                      <a:rect b="b" l="l" r="r" t="t"/>
                      <a:pathLst>
                        <a:path extrusionOk="0" h="6172" w="8067">
                          <a:moveTo>
                            <a:pt x="0" y="0"/>
                          </a:moveTo>
                          <a:lnTo>
                            <a:pt x="0" y="4082"/>
                          </a:lnTo>
                          <a:lnTo>
                            <a:pt x="4179" y="6172"/>
                          </a:lnTo>
                          <a:lnTo>
                            <a:pt x="8067" y="3936"/>
                          </a:lnTo>
                          <a:lnTo>
                            <a:pt x="8067" y="243"/>
                          </a:lnTo>
                          <a:lnTo>
                            <a:pt x="4082" y="2478"/>
                          </a:lnTo>
                          <a:close/>
                        </a:path>
                      </a:pathLst>
                    </a:custGeom>
                    <a:noFill/>
                    <a:ln cap="flat" cmpd="sng" w="9525">
                      <a:solidFill>
                        <a:schemeClr val="dk1"/>
                      </a:solidFill>
                      <a:prstDash val="solid"/>
                      <a:round/>
                      <a:headEnd len="med" w="med" type="none"/>
                      <a:tailEnd len="med" w="med" type="none"/>
                    </a:ln>
                  </p:spPr>
                </p:sp>
              </p:grpSp>
            </p:grpSp>
            <p:grpSp>
              <p:nvGrpSpPr>
                <p:cNvPr id="641" name="Google Shape;641;p56"/>
                <p:cNvGrpSpPr/>
                <p:nvPr/>
              </p:nvGrpSpPr>
              <p:grpSpPr>
                <a:xfrm>
                  <a:off x="4740038" y="1831550"/>
                  <a:ext cx="959163" cy="250200"/>
                  <a:chOff x="4740038" y="1831550"/>
                  <a:chExt cx="959163" cy="250200"/>
                </a:xfrm>
              </p:grpSpPr>
              <p:sp>
                <p:nvSpPr>
                  <p:cNvPr id="642" name="Google Shape;642;p56"/>
                  <p:cNvSpPr txBox="1"/>
                  <p:nvPr/>
                </p:nvSpPr>
                <p:spPr>
                  <a:xfrm>
                    <a:off x="4986700" y="183155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Sales Head</a:t>
                    </a:r>
                    <a:endParaRPr sz="800">
                      <a:solidFill>
                        <a:schemeClr val="dk1"/>
                      </a:solidFill>
                      <a:latin typeface="Arimo"/>
                      <a:ea typeface="Arimo"/>
                      <a:cs typeface="Arimo"/>
                      <a:sym typeface="Arimo"/>
                    </a:endParaRPr>
                  </a:p>
                </p:txBody>
              </p:sp>
              <p:grpSp>
                <p:nvGrpSpPr>
                  <p:cNvPr id="643" name="Google Shape;643;p56"/>
                  <p:cNvGrpSpPr/>
                  <p:nvPr/>
                </p:nvGrpSpPr>
                <p:grpSpPr>
                  <a:xfrm>
                    <a:off x="4740038" y="1860050"/>
                    <a:ext cx="179400" cy="158050"/>
                    <a:chOff x="4739975" y="1877300"/>
                    <a:chExt cx="179400" cy="158050"/>
                  </a:xfrm>
                </p:grpSpPr>
                <p:sp>
                  <p:nvSpPr>
                    <p:cNvPr descr="A suitcase icon." id="644" name="Google Shape;644;p56"/>
                    <p:cNvSpPr/>
                    <p:nvPr/>
                  </p:nvSpPr>
                  <p:spPr>
                    <a:xfrm>
                      <a:off x="4739975" y="1910250"/>
                      <a:ext cx="179400" cy="125100"/>
                    </a:xfrm>
                    <a:prstGeom prst="roundRect">
                      <a:avLst>
                        <a:gd fmla="val 767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645" name="Google Shape;645;p56"/>
                    <p:cNvSpPr/>
                    <p:nvPr/>
                  </p:nvSpPr>
                  <p:spPr>
                    <a:xfrm>
                      <a:off x="4805025" y="1877300"/>
                      <a:ext cx="51225" cy="31225"/>
                    </a:xfrm>
                    <a:custGeom>
                      <a:rect b="b" l="l" r="r" t="t"/>
                      <a:pathLst>
                        <a:path extrusionOk="0" h="1249" w="2049">
                          <a:moveTo>
                            <a:pt x="0" y="1185"/>
                          </a:moveTo>
                          <a:lnTo>
                            <a:pt x="0" y="0"/>
                          </a:lnTo>
                          <a:lnTo>
                            <a:pt x="2049" y="0"/>
                          </a:lnTo>
                          <a:lnTo>
                            <a:pt x="2049" y="1249"/>
                          </a:lnTo>
                        </a:path>
                      </a:pathLst>
                    </a:custGeom>
                    <a:noFill/>
                    <a:ln cap="flat" cmpd="sng" w="9525">
                      <a:solidFill>
                        <a:schemeClr val="dk1"/>
                      </a:solidFill>
                      <a:prstDash val="solid"/>
                      <a:round/>
                      <a:headEnd len="med" w="med" type="none"/>
                      <a:tailEnd len="med" w="med" type="none"/>
                    </a:ln>
                  </p:spPr>
                </p:sp>
              </p:grpSp>
            </p:grpSp>
          </p:grpSp>
          <p:grpSp>
            <p:nvGrpSpPr>
              <p:cNvPr id="646" name="Google Shape;646;p56"/>
              <p:cNvGrpSpPr/>
              <p:nvPr/>
            </p:nvGrpSpPr>
            <p:grpSpPr>
              <a:xfrm>
                <a:off x="3373040" y="2443650"/>
                <a:ext cx="2369935" cy="250200"/>
                <a:chOff x="3373040" y="2443650"/>
                <a:chExt cx="2369935" cy="250200"/>
              </a:xfrm>
            </p:grpSpPr>
            <p:sp>
              <p:nvSpPr>
                <p:cNvPr id="647" name="Google Shape;647;p56"/>
                <p:cNvSpPr txBox="1"/>
                <p:nvPr/>
              </p:nvSpPr>
              <p:spPr>
                <a:xfrm>
                  <a:off x="3702075" y="2443650"/>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Analyzed a user behavior. For example, they love exploring trendy fashion on the Closet Fashion</a:t>
                  </a:r>
                  <a:endParaRPr sz="700">
                    <a:solidFill>
                      <a:schemeClr val="dk1"/>
                    </a:solidFill>
                    <a:latin typeface="Arimo"/>
                    <a:ea typeface="Arimo"/>
                    <a:cs typeface="Arimo"/>
                    <a:sym typeface="Arimo"/>
                  </a:endParaRPr>
                </a:p>
              </p:txBody>
            </p:sp>
            <p:grpSp>
              <p:nvGrpSpPr>
                <p:cNvPr id="648" name="Google Shape;648;p56"/>
                <p:cNvGrpSpPr/>
                <p:nvPr/>
              </p:nvGrpSpPr>
              <p:grpSpPr>
                <a:xfrm>
                  <a:off x="3373040" y="2474450"/>
                  <a:ext cx="177375" cy="177225"/>
                  <a:chOff x="3367975" y="2474450"/>
                  <a:chExt cx="177375" cy="177225"/>
                </a:xfrm>
              </p:grpSpPr>
              <p:sp>
                <p:nvSpPr>
                  <p:cNvPr descr="A shopping cart icon. " id="649" name="Google Shape;649;p56"/>
                  <p:cNvSpPr/>
                  <p:nvPr/>
                </p:nvSpPr>
                <p:spPr>
                  <a:xfrm>
                    <a:off x="3367975" y="2474450"/>
                    <a:ext cx="177375" cy="90225"/>
                  </a:xfrm>
                  <a:custGeom>
                    <a:rect b="b" l="l" r="r" t="t"/>
                    <a:pathLst>
                      <a:path extrusionOk="0" h="3609" w="7095">
                        <a:moveTo>
                          <a:pt x="0" y="0"/>
                        </a:moveTo>
                        <a:lnTo>
                          <a:pt x="861" y="0"/>
                        </a:lnTo>
                        <a:lnTo>
                          <a:pt x="2502" y="3609"/>
                        </a:lnTo>
                        <a:lnTo>
                          <a:pt x="5742" y="3609"/>
                        </a:lnTo>
                        <a:lnTo>
                          <a:pt x="7095" y="943"/>
                        </a:lnTo>
                        <a:lnTo>
                          <a:pt x="1271" y="902"/>
                        </a:lnTo>
                      </a:path>
                    </a:pathLst>
                  </a:custGeom>
                  <a:noFill/>
                  <a:ln cap="flat" cmpd="sng" w="9525">
                    <a:solidFill>
                      <a:schemeClr val="dk1"/>
                    </a:solidFill>
                    <a:prstDash val="solid"/>
                    <a:round/>
                    <a:headEnd len="med" w="med" type="none"/>
                    <a:tailEnd len="med" w="med" type="none"/>
                  </a:ln>
                </p:spPr>
              </p:sp>
              <p:sp>
                <p:nvSpPr>
                  <p:cNvPr id="650" name="Google Shape;650;p56"/>
                  <p:cNvSpPr/>
                  <p:nvPr/>
                </p:nvSpPr>
                <p:spPr>
                  <a:xfrm>
                    <a:off x="3406300" y="2559550"/>
                    <a:ext cx="126100" cy="42025"/>
                  </a:xfrm>
                  <a:custGeom>
                    <a:rect b="b" l="l" r="r" t="t"/>
                    <a:pathLst>
                      <a:path extrusionOk="0" h="1681" w="5044">
                        <a:moveTo>
                          <a:pt x="943" y="0"/>
                        </a:moveTo>
                        <a:lnTo>
                          <a:pt x="0" y="1681"/>
                        </a:lnTo>
                        <a:lnTo>
                          <a:pt x="5044" y="1681"/>
                        </a:lnTo>
                      </a:path>
                    </a:pathLst>
                  </a:custGeom>
                  <a:noFill/>
                  <a:ln cap="flat" cmpd="sng" w="9525">
                    <a:solidFill>
                      <a:schemeClr val="dk1"/>
                    </a:solidFill>
                    <a:prstDash val="solid"/>
                    <a:round/>
                    <a:headEnd len="med" w="med" type="none"/>
                    <a:tailEnd len="med" w="med" type="none"/>
                  </a:ln>
                </p:spPr>
              </p:sp>
              <p:sp>
                <p:nvSpPr>
                  <p:cNvPr id="651" name="Google Shape;651;p56"/>
                  <p:cNvSpPr/>
                  <p:nvPr/>
                </p:nvSpPr>
                <p:spPr>
                  <a:xfrm>
                    <a:off x="34063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56"/>
                  <p:cNvSpPr/>
                  <p:nvPr/>
                </p:nvSpPr>
                <p:spPr>
                  <a:xfrm>
                    <a:off x="35015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653" name="Google Shape;653;p56"/>
              <p:cNvGrpSpPr/>
              <p:nvPr/>
            </p:nvGrpSpPr>
            <p:grpSpPr>
              <a:xfrm>
                <a:off x="3375327" y="1500900"/>
                <a:ext cx="962648" cy="580875"/>
                <a:chOff x="3375327" y="1500900"/>
                <a:chExt cx="962648" cy="580875"/>
              </a:xfrm>
            </p:grpSpPr>
            <p:grpSp>
              <p:nvGrpSpPr>
                <p:cNvPr id="654" name="Google Shape;654;p56"/>
                <p:cNvGrpSpPr/>
                <p:nvPr/>
              </p:nvGrpSpPr>
              <p:grpSpPr>
                <a:xfrm>
                  <a:off x="3375327" y="1831575"/>
                  <a:ext cx="962648" cy="250200"/>
                  <a:chOff x="3375327" y="1831575"/>
                  <a:chExt cx="962648" cy="250200"/>
                </a:xfrm>
              </p:grpSpPr>
              <p:sp>
                <p:nvSpPr>
                  <p:cNvPr id="655" name="Google Shape;655;p56"/>
                  <p:cNvSpPr txBox="1"/>
                  <p:nvPr/>
                </p:nvSpPr>
                <p:spPr>
                  <a:xfrm>
                    <a:off x="3625475" y="1831575"/>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Love Fashion</a:t>
                    </a:r>
                    <a:endParaRPr sz="800">
                      <a:solidFill>
                        <a:schemeClr val="dk1"/>
                      </a:solidFill>
                      <a:latin typeface="Arimo"/>
                      <a:ea typeface="Arimo"/>
                      <a:cs typeface="Arimo"/>
                      <a:sym typeface="Arimo"/>
                    </a:endParaRPr>
                  </a:p>
                </p:txBody>
              </p:sp>
              <p:sp>
                <p:nvSpPr>
                  <p:cNvPr descr="A heart icon" id="656" name="Google Shape;656;p56"/>
                  <p:cNvSpPr/>
                  <p:nvPr/>
                </p:nvSpPr>
                <p:spPr>
                  <a:xfrm>
                    <a:off x="3375327" y="1876038"/>
                    <a:ext cx="172800" cy="159300"/>
                  </a:xfrm>
                  <a:prstGeom prst="hear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grpSp>
              <p:nvGrpSpPr>
                <p:cNvPr id="657" name="Google Shape;657;p56"/>
                <p:cNvGrpSpPr/>
                <p:nvPr/>
              </p:nvGrpSpPr>
              <p:grpSpPr>
                <a:xfrm>
                  <a:off x="3387802" y="1500900"/>
                  <a:ext cx="950173" cy="250200"/>
                  <a:chOff x="3387802" y="1500900"/>
                  <a:chExt cx="950173" cy="250200"/>
                </a:xfrm>
              </p:grpSpPr>
              <p:sp>
                <p:nvSpPr>
                  <p:cNvPr id="658" name="Google Shape;658;p56"/>
                  <p:cNvSpPr txBox="1"/>
                  <p:nvPr/>
                </p:nvSpPr>
                <p:spPr>
                  <a:xfrm>
                    <a:off x="3625475"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Bikaner</a:t>
                    </a:r>
                    <a:endParaRPr sz="800">
                      <a:solidFill>
                        <a:schemeClr val="dk1"/>
                      </a:solidFill>
                      <a:latin typeface="Arimo"/>
                      <a:ea typeface="Arimo"/>
                      <a:cs typeface="Arimo"/>
                      <a:sym typeface="Arimo"/>
                    </a:endParaRPr>
                  </a:p>
                </p:txBody>
              </p:sp>
              <p:pic>
                <p:nvPicPr>
                  <p:cNvPr descr="Location marker. " id="659" name="Google Shape;659;p56"/>
                  <p:cNvPicPr preferRelativeResize="0"/>
                  <p:nvPr/>
                </p:nvPicPr>
                <p:blipFill>
                  <a:blip r:embed="rId5">
                    <a:alphaModFix/>
                  </a:blip>
                  <a:stretch>
                    <a:fillRect/>
                  </a:stretch>
                </p:blipFill>
                <p:spPr>
                  <a:xfrm>
                    <a:off x="3387802" y="1538536"/>
                    <a:ext cx="147850" cy="187502"/>
                  </a:xfrm>
                  <a:prstGeom prst="rect">
                    <a:avLst/>
                  </a:prstGeom>
                  <a:noFill/>
                  <a:ln>
                    <a:noFill/>
                  </a:ln>
                </p:spPr>
              </p:pic>
            </p:grpSp>
          </p:grpSp>
          <p:grpSp>
            <p:nvGrpSpPr>
              <p:cNvPr id="660" name="Google Shape;660;p56"/>
              <p:cNvGrpSpPr/>
              <p:nvPr/>
            </p:nvGrpSpPr>
            <p:grpSpPr>
              <a:xfrm>
                <a:off x="3387815" y="2953513"/>
                <a:ext cx="2355160" cy="250200"/>
                <a:chOff x="3387815" y="2953513"/>
                <a:chExt cx="2355160" cy="250200"/>
              </a:xfrm>
            </p:grpSpPr>
            <p:sp>
              <p:nvSpPr>
                <p:cNvPr id="661" name="Google Shape;661;p56"/>
                <p:cNvSpPr txBox="1"/>
                <p:nvPr/>
              </p:nvSpPr>
              <p:spPr>
                <a:xfrm>
                  <a:off x="3702075" y="2953513"/>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They continue to product page, check different sizes, colors, and details and </a:t>
                  </a:r>
                  <a:r>
                    <a:rPr lang="en" sz="700">
                      <a:solidFill>
                        <a:schemeClr val="dk1"/>
                      </a:solidFill>
                      <a:latin typeface="Arimo"/>
                      <a:ea typeface="Arimo"/>
                      <a:cs typeface="Arimo"/>
                      <a:sym typeface="Arimo"/>
                    </a:rPr>
                    <a:t>receive</a:t>
                  </a:r>
                  <a:r>
                    <a:rPr lang="en" sz="700">
                      <a:solidFill>
                        <a:schemeClr val="dk1"/>
                      </a:solidFill>
                      <a:latin typeface="Arimo"/>
                      <a:ea typeface="Arimo"/>
                      <a:cs typeface="Arimo"/>
                      <a:sym typeface="Arimo"/>
                    </a:rPr>
                    <a:t> a superfast delivery.</a:t>
                  </a:r>
                  <a:endParaRPr sz="700">
                    <a:solidFill>
                      <a:schemeClr val="dk1"/>
                    </a:solidFill>
                    <a:latin typeface="Arimo"/>
                    <a:ea typeface="Arimo"/>
                    <a:cs typeface="Arimo"/>
                    <a:sym typeface="Arimo"/>
                  </a:endParaRPr>
                </a:p>
              </p:txBody>
            </p:sp>
            <p:pic>
              <p:nvPicPr>
                <p:cNvPr descr="A finger tap icon. " id="662" name="Google Shape;662;p56"/>
                <p:cNvPicPr preferRelativeResize="0"/>
                <p:nvPr/>
              </p:nvPicPr>
              <p:blipFill>
                <a:blip r:embed="rId6">
                  <a:alphaModFix/>
                </a:blip>
                <a:stretch>
                  <a:fillRect/>
                </a:stretch>
              </p:blipFill>
              <p:spPr>
                <a:xfrm>
                  <a:off x="3387815" y="2974155"/>
                  <a:ext cx="147825" cy="210332"/>
                </a:xfrm>
                <a:prstGeom prst="rect">
                  <a:avLst/>
                </a:prstGeom>
                <a:noFill/>
                <a:ln>
                  <a:noFill/>
                </a:ln>
              </p:spPr>
            </p:pic>
          </p:gr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pic>
        <p:nvPicPr>
          <p:cNvPr id="667" name="Google Shape;667;p57"/>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8" name="Google Shape;668;p57"/>
          <p:cNvSpPr txBox="1"/>
          <p:nvPr>
            <p:ph type="title"/>
          </p:nvPr>
        </p:nvSpPr>
        <p:spPr>
          <a:xfrm>
            <a:off x="1946725" y="3203338"/>
            <a:ext cx="5004600" cy="597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 final look at Closet Fashion</a:t>
            </a:r>
            <a:endParaRPr/>
          </a:p>
          <a:p>
            <a:pPr indent="0" lvl="0" marL="0" rtl="0" algn="l">
              <a:spcBef>
                <a:spcPts val="0"/>
              </a:spcBef>
              <a:spcAft>
                <a:spcPts val="0"/>
              </a:spcAft>
              <a:buNone/>
            </a:pPr>
            <a:r>
              <a:t/>
            </a:r>
            <a:endParaRPr/>
          </a:p>
        </p:txBody>
      </p:sp>
      <p:sp>
        <p:nvSpPr>
          <p:cNvPr id="669" name="Google Shape;669;p57"/>
          <p:cNvSpPr/>
          <p:nvPr/>
        </p:nvSpPr>
        <p:spPr>
          <a:xfrm>
            <a:off x="6664400" y="4056925"/>
            <a:ext cx="2309100" cy="4317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Coming Soon</a:t>
            </a:r>
            <a:endParaRPr sz="1100">
              <a:solidFill>
                <a:schemeClr val="dk1"/>
              </a:solidFill>
              <a:latin typeface="Arimo"/>
              <a:ea typeface="Arimo"/>
              <a:cs typeface="Arimo"/>
              <a:sym typeface="Arimo"/>
            </a:endParaRPr>
          </a:p>
        </p:txBody>
      </p:sp>
      <p:grpSp>
        <p:nvGrpSpPr>
          <p:cNvPr id="670" name="Google Shape;670;p57"/>
          <p:cNvGrpSpPr/>
          <p:nvPr/>
        </p:nvGrpSpPr>
        <p:grpSpPr>
          <a:xfrm>
            <a:off x="1946725" y="3923523"/>
            <a:ext cx="359400" cy="359400"/>
            <a:chOff x="496725" y="1544573"/>
            <a:chExt cx="359400" cy="359400"/>
          </a:xfrm>
        </p:grpSpPr>
        <p:sp>
          <p:nvSpPr>
            <p:cNvPr id="671" name="Google Shape;671;p57"/>
            <p:cNvSpPr/>
            <p:nvPr/>
          </p:nvSpPr>
          <p:spPr>
            <a:xfrm>
              <a:off x="49672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672" name="Google Shape;672;p57"/>
            <p:cNvSpPr/>
            <p:nvPr/>
          </p:nvSpPr>
          <p:spPr>
            <a:xfrm>
              <a:off x="52805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1</a:t>
              </a:r>
              <a:endParaRPr sz="1200">
                <a:solidFill>
                  <a:schemeClr val="dk1"/>
                </a:solidFill>
                <a:latin typeface="Arimo"/>
                <a:ea typeface="Arimo"/>
                <a:cs typeface="Arimo"/>
                <a:sym typeface="Arimo"/>
              </a:endParaRPr>
            </a:p>
          </p:txBody>
        </p:sp>
      </p:grpSp>
      <p:grpSp>
        <p:nvGrpSpPr>
          <p:cNvPr id="673" name="Google Shape;673;p57"/>
          <p:cNvGrpSpPr/>
          <p:nvPr/>
        </p:nvGrpSpPr>
        <p:grpSpPr>
          <a:xfrm>
            <a:off x="4155225" y="3958498"/>
            <a:ext cx="359400" cy="359400"/>
            <a:chOff x="2901075" y="1544573"/>
            <a:chExt cx="359400" cy="359400"/>
          </a:xfrm>
        </p:grpSpPr>
        <p:sp>
          <p:nvSpPr>
            <p:cNvPr id="674" name="Google Shape;674;p57"/>
            <p:cNvSpPr/>
            <p:nvPr/>
          </p:nvSpPr>
          <p:spPr>
            <a:xfrm>
              <a:off x="290107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675" name="Google Shape;675;p57"/>
            <p:cNvSpPr/>
            <p:nvPr/>
          </p:nvSpPr>
          <p:spPr>
            <a:xfrm>
              <a:off x="293240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2</a:t>
              </a:r>
              <a:endParaRPr sz="1200">
                <a:solidFill>
                  <a:schemeClr val="dk1"/>
                </a:solidFill>
                <a:latin typeface="Arimo"/>
                <a:ea typeface="Arimo"/>
                <a:cs typeface="Arimo"/>
                <a:sym typeface="Arimo"/>
              </a:endParaRPr>
            </a:p>
          </p:txBody>
        </p:sp>
      </p:grpSp>
      <p:grpSp>
        <p:nvGrpSpPr>
          <p:cNvPr id="676" name="Google Shape;676;p57"/>
          <p:cNvGrpSpPr/>
          <p:nvPr/>
        </p:nvGrpSpPr>
        <p:grpSpPr>
          <a:xfrm>
            <a:off x="1946725" y="4326623"/>
            <a:ext cx="359400" cy="359400"/>
            <a:chOff x="496725" y="2935598"/>
            <a:chExt cx="359400" cy="359400"/>
          </a:xfrm>
        </p:grpSpPr>
        <p:sp>
          <p:nvSpPr>
            <p:cNvPr id="677" name="Google Shape;677;p57"/>
            <p:cNvSpPr/>
            <p:nvPr/>
          </p:nvSpPr>
          <p:spPr>
            <a:xfrm>
              <a:off x="49672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678" name="Google Shape;678;p57"/>
            <p:cNvSpPr/>
            <p:nvPr/>
          </p:nvSpPr>
          <p:spPr>
            <a:xfrm>
              <a:off x="528053" y="2966925"/>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3</a:t>
              </a:r>
              <a:endParaRPr sz="1200">
                <a:solidFill>
                  <a:schemeClr val="dk1"/>
                </a:solidFill>
                <a:latin typeface="Arimo"/>
                <a:ea typeface="Arimo"/>
                <a:cs typeface="Arimo"/>
                <a:sym typeface="Arimo"/>
              </a:endParaRPr>
            </a:p>
          </p:txBody>
        </p:sp>
      </p:grpSp>
      <p:grpSp>
        <p:nvGrpSpPr>
          <p:cNvPr id="679" name="Google Shape;679;p57"/>
          <p:cNvGrpSpPr/>
          <p:nvPr/>
        </p:nvGrpSpPr>
        <p:grpSpPr>
          <a:xfrm>
            <a:off x="4155225" y="4361598"/>
            <a:ext cx="359400" cy="359400"/>
            <a:chOff x="2901075" y="2935598"/>
            <a:chExt cx="359400" cy="359400"/>
          </a:xfrm>
        </p:grpSpPr>
        <p:sp>
          <p:nvSpPr>
            <p:cNvPr id="680" name="Google Shape;680;p57"/>
            <p:cNvSpPr/>
            <p:nvPr/>
          </p:nvSpPr>
          <p:spPr>
            <a:xfrm>
              <a:off x="290107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681" name="Google Shape;681;p57"/>
            <p:cNvSpPr/>
            <p:nvPr/>
          </p:nvSpPr>
          <p:spPr>
            <a:xfrm>
              <a:off x="2932403" y="2966925"/>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4</a:t>
              </a:r>
              <a:endParaRPr sz="1200">
                <a:solidFill>
                  <a:schemeClr val="dk1"/>
                </a:solidFill>
                <a:latin typeface="Arimo"/>
                <a:ea typeface="Arimo"/>
                <a:cs typeface="Arimo"/>
                <a:sym typeface="Arimo"/>
              </a:endParaRPr>
            </a:p>
          </p:txBody>
        </p:sp>
      </p:grpSp>
      <p:sp>
        <p:nvSpPr>
          <p:cNvPr id="682" name="Google Shape;682;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83" name="Google Shape;683;p57"/>
          <p:cNvSpPr txBox="1"/>
          <p:nvPr/>
        </p:nvSpPr>
        <p:spPr>
          <a:xfrm>
            <a:off x="2391850" y="3653823"/>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A modern fashion platform designed for online shopping.</a:t>
            </a:r>
            <a:endParaRPr sz="800">
              <a:solidFill>
                <a:schemeClr val="dk1"/>
              </a:solidFill>
              <a:latin typeface="Arimo"/>
              <a:ea typeface="Arimo"/>
              <a:cs typeface="Arimo"/>
              <a:sym typeface="Arimo"/>
            </a:endParaRPr>
          </a:p>
        </p:txBody>
      </p:sp>
      <p:sp>
        <p:nvSpPr>
          <p:cNvPr id="684" name="Google Shape;684;p57"/>
          <p:cNvSpPr txBox="1"/>
          <p:nvPr/>
        </p:nvSpPr>
        <p:spPr>
          <a:xfrm>
            <a:off x="4600350" y="3688798"/>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Combines elegant UI with smooth and user-friendly interactions.</a:t>
            </a:r>
            <a:endParaRPr sz="800">
              <a:solidFill>
                <a:schemeClr val="dk1"/>
              </a:solidFill>
              <a:latin typeface="Arimo"/>
              <a:ea typeface="Arimo"/>
              <a:cs typeface="Arimo"/>
              <a:sym typeface="Arimo"/>
            </a:endParaRPr>
          </a:p>
        </p:txBody>
      </p:sp>
      <p:sp>
        <p:nvSpPr>
          <p:cNvPr id="685" name="Google Shape;685;p57"/>
          <p:cNvSpPr txBox="1"/>
          <p:nvPr/>
        </p:nvSpPr>
        <p:spPr>
          <a:xfrm>
            <a:off x="2391850" y="4056923"/>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Simplifies product management for both customers and admins.</a:t>
            </a:r>
            <a:endParaRPr sz="800">
              <a:solidFill>
                <a:schemeClr val="dk1"/>
              </a:solidFill>
              <a:latin typeface="Arimo"/>
              <a:ea typeface="Arimo"/>
              <a:cs typeface="Arimo"/>
              <a:sym typeface="Arimo"/>
            </a:endParaRPr>
          </a:p>
        </p:txBody>
      </p:sp>
      <p:sp>
        <p:nvSpPr>
          <p:cNvPr id="686" name="Google Shape;686;p57"/>
          <p:cNvSpPr txBox="1"/>
          <p:nvPr/>
        </p:nvSpPr>
        <p:spPr>
          <a:xfrm>
            <a:off x="4600350" y="4091898"/>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Built to deliver a scalable and future-ready </a:t>
            </a:r>
            <a:r>
              <a:rPr lang="en" sz="800">
                <a:solidFill>
                  <a:schemeClr val="dk1"/>
                </a:solidFill>
                <a:latin typeface="Arimo"/>
                <a:ea typeface="Arimo"/>
                <a:cs typeface="Arimo"/>
                <a:sym typeface="Arimo"/>
              </a:rPr>
              <a:t>ecommerce</a:t>
            </a:r>
            <a:r>
              <a:rPr lang="en" sz="800">
                <a:solidFill>
                  <a:schemeClr val="dk1"/>
                </a:solidFill>
                <a:latin typeface="Arimo"/>
                <a:ea typeface="Arimo"/>
                <a:cs typeface="Arimo"/>
                <a:sym typeface="Arimo"/>
              </a:rPr>
              <a:t> experience. </a:t>
            </a:r>
            <a:endParaRPr sz="800">
              <a:solidFill>
                <a:schemeClr val="dk1"/>
              </a:solidFill>
              <a:latin typeface="Arimo"/>
              <a:ea typeface="Arimo"/>
              <a:cs typeface="Arimo"/>
              <a:sym typeface="Arim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pic>
        <p:nvPicPr>
          <p:cNvPr id="691" name="Google Shape;691;p58"/>
          <p:cNvPicPr preferRelativeResize="0"/>
          <p:nvPr/>
        </p:nvPicPr>
        <p:blipFill rotWithShape="1">
          <a:blip r:embed="rId3">
            <a:alphaModFix amt="10000"/>
          </a:blip>
          <a:srcRect b="13596" l="3714" r="77644" t="20941"/>
          <a:stretch/>
        </p:blipFill>
        <p:spPr>
          <a:xfrm>
            <a:off x="2026600" y="1591825"/>
            <a:ext cx="1618800" cy="3039600"/>
          </a:xfrm>
          <a:prstGeom prst="roundRect">
            <a:avLst>
              <a:gd fmla="val 10347" name="adj"/>
            </a:avLst>
          </a:prstGeom>
          <a:noFill/>
          <a:ln>
            <a:noFill/>
          </a:ln>
        </p:spPr>
      </p:pic>
      <p:pic>
        <p:nvPicPr>
          <p:cNvPr id="692" name="Google Shape;692;p58"/>
          <p:cNvPicPr preferRelativeResize="0"/>
          <p:nvPr/>
        </p:nvPicPr>
        <p:blipFill rotWithShape="1">
          <a:blip r:embed="rId3">
            <a:alphaModFix amt="10000"/>
          </a:blip>
          <a:srcRect b="13596" l="3714" r="77644" t="20941"/>
          <a:stretch/>
        </p:blipFill>
        <p:spPr>
          <a:xfrm>
            <a:off x="3767250" y="1591825"/>
            <a:ext cx="1618800" cy="3039600"/>
          </a:xfrm>
          <a:prstGeom prst="roundRect">
            <a:avLst>
              <a:gd fmla="val 10347" name="adj"/>
            </a:avLst>
          </a:prstGeom>
          <a:noFill/>
          <a:ln>
            <a:noFill/>
          </a:ln>
        </p:spPr>
      </p:pic>
      <p:pic>
        <p:nvPicPr>
          <p:cNvPr id="693" name="Google Shape;693;p58"/>
          <p:cNvPicPr preferRelativeResize="0"/>
          <p:nvPr/>
        </p:nvPicPr>
        <p:blipFill rotWithShape="1">
          <a:blip r:embed="rId3">
            <a:alphaModFix amt="10000"/>
          </a:blip>
          <a:srcRect b="13596" l="3714" r="77644" t="20941"/>
          <a:stretch/>
        </p:blipFill>
        <p:spPr>
          <a:xfrm>
            <a:off x="5507900" y="1591825"/>
            <a:ext cx="1618800" cy="3039600"/>
          </a:xfrm>
          <a:prstGeom prst="roundRect">
            <a:avLst>
              <a:gd fmla="val 10347" name="adj"/>
            </a:avLst>
          </a:prstGeom>
          <a:noFill/>
          <a:ln>
            <a:noFill/>
          </a:ln>
        </p:spPr>
      </p:pic>
      <p:pic>
        <p:nvPicPr>
          <p:cNvPr id="694" name="Google Shape;694;p58"/>
          <p:cNvPicPr preferRelativeResize="0"/>
          <p:nvPr/>
        </p:nvPicPr>
        <p:blipFill rotWithShape="1">
          <a:blip r:embed="rId3">
            <a:alphaModFix amt="10000"/>
          </a:blip>
          <a:srcRect b="13596" l="3714" r="77644" t="20941"/>
          <a:stretch/>
        </p:blipFill>
        <p:spPr>
          <a:xfrm>
            <a:off x="7248550" y="1591825"/>
            <a:ext cx="1618800" cy="3039600"/>
          </a:xfrm>
          <a:prstGeom prst="roundRect">
            <a:avLst>
              <a:gd fmla="val 10347" name="adj"/>
            </a:avLst>
          </a:prstGeom>
          <a:noFill/>
          <a:ln>
            <a:noFill/>
          </a:ln>
        </p:spPr>
      </p:pic>
      <p:sp>
        <p:nvSpPr>
          <p:cNvPr id="695" name="Google Shape;695;p5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Key takeaways</a:t>
            </a:r>
            <a:endParaRPr/>
          </a:p>
        </p:txBody>
      </p:sp>
      <p:sp>
        <p:nvSpPr>
          <p:cNvPr id="696" name="Google Shape;696;p58"/>
          <p:cNvSpPr/>
          <p:nvPr/>
        </p:nvSpPr>
        <p:spPr>
          <a:xfrm>
            <a:off x="219612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97" name="Google Shape;697;p58"/>
          <p:cNvSpPr/>
          <p:nvPr/>
        </p:nvSpPr>
        <p:spPr>
          <a:xfrm>
            <a:off x="393677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rimo"/>
              <a:ea typeface="Arimo"/>
              <a:cs typeface="Arimo"/>
              <a:sym typeface="Arimo"/>
            </a:endParaRPr>
          </a:p>
        </p:txBody>
      </p:sp>
      <p:sp>
        <p:nvSpPr>
          <p:cNvPr id="698" name="Google Shape;698;p58"/>
          <p:cNvSpPr/>
          <p:nvPr/>
        </p:nvSpPr>
        <p:spPr>
          <a:xfrm>
            <a:off x="567742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99" name="Google Shape;699;p58"/>
          <p:cNvSpPr/>
          <p:nvPr/>
        </p:nvSpPr>
        <p:spPr>
          <a:xfrm>
            <a:off x="741807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700" name="Google Shape;700;p58"/>
          <p:cNvSpPr/>
          <p:nvPr/>
        </p:nvSpPr>
        <p:spPr>
          <a:xfrm>
            <a:off x="224098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sp>
        <p:nvSpPr>
          <p:cNvPr id="701" name="Google Shape;701;p58"/>
          <p:cNvSpPr/>
          <p:nvPr/>
        </p:nvSpPr>
        <p:spPr>
          <a:xfrm>
            <a:off x="398163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sp>
        <p:nvSpPr>
          <p:cNvPr id="702" name="Google Shape;702;p58"/>
          <p:cNvSpPr/>
          <p:nvPr/>
        </p:nvSpPr>
        <p:spPr>
          <a:xfrm>
            <a:off x="572228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sp>
        <p:nvSpPr>
          <p:cNvPr id="703" name="Google Shape;703;p58"/>
          <p:cNvSpPr/>
          <p:nvPr/>
        </p:nvSpPr>
        <p:spPr>
          <a:xfrm>
            <a:off x="746293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sp>
        <p:nvSpPr>
          <p:cNvPr id="704" name="Google Shape;704;p5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705" name="Google Shape;705;p5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706" name="Google Shape;706;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07" name="Google Shape;707;p58"/>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Easy product discovery with a clean and modern shopping experience.</a:t>
            </a:r>
            <a:endParaRPr/>
          </a:p>
        </p:txBody>
      </p:sp>
      <p:sp>
        <p:nvSpPr>
          <p:cNvPr id="708" name="Google Shape;708;p58"/>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Smooth navigation, detailed product pages, and simple checkout flow.</a:t>
            </a:r>
            <a:endParaRPr/>
          </a:p>
        </p:txBody>
      </p:sp>
      <p:sp>
        <p:nvSpPr>
          <p:cNvPr id="709" name="Google Shape;709;p58"/>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Powerful admin tools for product uploads and inventory control.</a:t>
            </a:r>
            <a:endParaRPr/>
          </a:p>
        </p:txBody>
      </p:sp>
      <p:sp>
        <p:nvSpPr>
          <p:cNvPr id="710" name="Google Shape;710;p58"/>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Built for scalable fashion e-commerce and future AI integration.</a:t>
            </a:r>
            <a:endParaRPr/>
          </a:p>
        </p:txBody>
      </p:sp>
      <p:sp>
        <p:nvSpPr>
          <p:cNvPr id="711" name="Google Shape;711;p58"/>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Smart Shopping</a:t>
            </a:r>
            <a:endParaRPr/>
          </a:p>
        </p:txBody>
      </p:sp>
      <p:sp>
        <p:nvSpPr>
          <p:cNvPr id="712" name="Google Shape;712;p58"/>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Better UI/UX</a:t>
            </a:r>
            <a:endParaRPr/>
          </a:p>
        </p:txBody>
      </p:sp>
      <p:sp>
        <p:nvSpPr>
          <p:cNvPr id="713" name="Google Shape;713;p58"/>
          <p:cNvSpPr txBox="1"/>
          <p:nvPr>
            <p:ph idx="9" type="subTitle"/>
          </p:nvPr>
        </p:nvSpPr>
        <p:spPr>
          <a:xfrm>
            <a:off x="5747850" y="26288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Efficient Management</a:t>
            </a:r>
            <a:endParaRPr/>
          </a:p>
        </p:txBody>
      </p:sp>
      <p:sp>
        <p:nvSpPr>
          <p:cNvPr id="714" name="Google Shape;714;p58"/>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Future Ready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9"/>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Ask me anything!</a:t>
            </a:r>
            <a:endParaRPr/>
          </a:p>
        </p:txBody>
      </p:sp>
      <p:pic>
        <p:nvPicPr>
          <p:cNvPr id="720" name="Google Shape;720;p59"/>
          <p:cNvPicPr preferRelativeResize="0"/>
          <p:nvPr/>
        </p:nvPicPr>
        <p:blipFill>
          <a:blip r:embed="rId3">
            <a:alphaModFix/>
          </a:blip>
          <a:stretch>
            <a:fillRect/>
          </a:stretch>
        </p:blipFill>
        <p:spPr>
          <a:xfrm>
            <a:off x="625375" y="627900"/>
            <a:ext cx="610500" cy="610500"/>
          </a:xfrm>
          <a:prstGeom prst="rect">
            <a:avLst/>
          </a:prstGeom>
          <a:noFill/>
          <a:ln>
            <a:noFill/>
          </a:ln>
        </p:spPr>
      </p:pic>
      <p:sp>
        <p:nvSpPr>
          <p:cNvPr id="721" name="Google Shape;721;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0"/>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Resources</a:t>
            </a:r>
            <a:endParaRPr/>
          </a:p>
        </p:txBody>
      </p:sp>
      <p:pic>
        <p:nvPicPr>
          <p:cNvPr id="727" name="Google Shape;727;p60"/>
          <p:cNvPicPr preferRelativeResize="0"/>
          <p:nvPr/>
        </p:nvPicPr>
        <p:blipFill>
          <a:blip r:embed="rId3">
            <a:alphaModFix/>
          </a:blip>
          <a:stretch>
            <a:fillRect/>
          </a:stretch>
        </p:blipFill>
        <p:spPr>
          <a:xfrm>
            <a:off x="625375" y="627900"/>
            <a:ext cx="610500" cy="610500"/>
          </a:xfrm>
          <a:prstGeom prst="rect">
            <a:avLst/>
          </a:prstGeom>
          <a:noFill/>
          <a:ln>
            <a:noFill/>
          </a:ln>
        </p:spPr>
      </p:pic>
      <p:cxnSp>
        <p:nvCxnSpPr>
          <p:cNvPr id="728" name="Google Shape;728;p60"/>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729" name="Google Shape;729;p60"/>
          <p:cNvSpPr txBox="1"/>
          <p:nvPr/>
        </p:nvSpPr>
        <p:spPr>
          <a:xfrm>
            <a:off x="5594950" y="3328475"/>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rPr lang="en" sz="1000">
                <a:solidFill>
                  <a:schemeClr val="dk1"/>
                </a:solidFill>
                <a:latin typeface="Arimo"/>
                <a:ea typeface="Arimo"/>
                <a:cs typeface="Arimo"/>
                <a:sym typeface="Arimo"/>
              </a:rPr>
              <a:t>Questions</a:t>
            </a: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000">
                <a:solidFill>
                  <a:schemeClr val="dk1"/>
                </a:solidFill>
                <a:latin typeface="Arimo"/>
                <a:ea typeface="Arimo"/>
                <a:cs typeface="Arimo"/>
                <a:sym typeface="Arimo"/>
              </a:rPr>
              <a:t>Please reach out to</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000">
                <a:solidFill>
                  <a:schemeClr val="dk1"/>
                </a:solidFill>
                <a:latin typeface="Arimo"/>
                <a:ea typeface="Arimo"/>
                <a:cs typeface="Arimo"/>
                <a:sym typeface="Arimo"/>
              </a:rPr>
              <a:t>gagansaini10999@gmail.com</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600">
                <a:solidFill>
                  <a:schemeClr val="dk1"/>
                </a:solidFill>
                <a:latin typeface="Arimo"/>
                <a:ea typeface="Arimo"/>
                <a:cs typeface="Arimo"/>
                <a:sym typeface="Arimo"/>
              </a:rPr>
              <a:t>Thank you!</a:t>
            </a:r>
            <a:endParaRPr sz="1600">
              <a:solidFill>
                <a:schemeClr val="dk1"/>
              </a:solidFill>
              <a:latin typeface="Arimo"/>
              <a:ea typeface="Arimo"/>
              <a:cs typeface="Arimo"/>
              <a:sym typeface="Arimo"/>
            </a:endParaRPr>
          </a:p>
        </p:txBody>
      </p:sp>
      <p:sp>
        <p:nvSpPr>
          <p:cNvPr id="730" name="Google Shape;730;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